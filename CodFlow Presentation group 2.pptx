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74" r:id="rId2"/>
    <p:sldId id="273" r:id="rId3"/>
    <p:sldId id="256" r:id="rId4"/>
    <p:sldId id="257" r:id="rId5"/>
    <p:sldId id="283" r:id="rId6"/>
    <p:sldId id="271" r:id="rId7"/>
    <p:sldId id="258" r:id="rId8"/>
    <p:sldId id="276" r:id="rId9"/>
    <p:sldId id="278" r:id="rId10"/>
    <p:sldId id="277" r:id="rId11"/>
    <p:sldId id="279" r:id="rId12"/>
    <p:sldId id="260" r:id="rId13"/>
    <p:sldId id="268" r:id="rId14"/>
    <p:sldId id="281" r:id="rId15"/>
    <p:sldId id="282" r:id="rId16"/>
    <p:sldId id="262" r:id="rId17"/>
    <p:sldId id="263" r:id="rId18"/>
    <p:sldId id="284" r:id="rId19"/>
    <p:sldId id="264" r:id="rId20"/>
    <p:sldId id="269" r:id="rId21"/>
    <p:sldId id="270" r:id="rId22"/>
    <p:sldId id="265" r:id="rId23"/>
    <p:sldId id="266" r:id="rId24"/>
    <p:sldId id="285" r:id="rId25"/>
  </p:sldIdLst>
  <p:sldSz cx="12192000" cy="6858000"/>
  <p:notesSz cx="6858000" cy="9144000"/>
  <p:embeddedFontLst>
    <p:embeddedFont>
      <p:font typeface="Inter"/>
      <p:bold r:id="rId27"/>
    </p:embeddedFont>
    <p:embeddedFont>
      <p:font typeface="JetBrains Mono"/>
      <p:bold r:id="rId28"/>
    </p:embeddedFont>
    <p:embeddedFont>
      <p:font typeface="Space Grotesk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 snapToObjects="1">
      <p:cViewPr>
        <p:scale>
          <a:sx n="33" d="100"/>
          <a:sy n="33" d="100"/>
        </p:scale>
        <p:origin x="1988" y="6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A4BBD-D318-4EF7-82CD-030112B8713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8B0A7-43C3-494E-8041-E5906C04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80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33161-979E-46EB-9CDA-252A3A57E1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452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7AD6-5D22-957F-EFC6-6BA19003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19AB5-0691-855E-EEA4-41770C84C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3353C-EBB3-1351-B655-81BBE3D6D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AC-3963-D7A4-B7EE-47F863B72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8B0A7-43C3-494E-8041-E5906C0440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63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8B0A7-43C3-494E-8041-E5906C0440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35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"/>
          <p:cNvSpPr/>
          <p:nvPr/>
        </p:nvSpPr>
        <p:spPr>
          <a:xfrm>
            <a:off x="-4643723" y="1937445"/>
            <a:ext cx="3479750" cy="2983110"/>
          </a:xfrm>
          <a:prstGeom prst="roundRect">
            <a:avLst>
              <a:gd name="adj" fmla="val 5108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3"/>
          <p:cNvSpPr/>
          <p:nvPr/>
        </p:nvSpPr>
        <p:spPr>
          <a:xfrm>
            <a:off x="4356050" y="-3433440"/>
            <a:ext cx="3479750" cy="2983110"/>
          </a:xfrm>
          <a:prstGeom prst="roundRect">
            <a:avLst>
              <a:gd name="adj" fmla="val 5108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4"/>
          <p:cNvSpPr/>
          <p:nvPr/>
        </p:nvSpPr>
        <p:spPr>
          <a:xfrm>
            <a:off x="13367918" y="2130537"/>
            <a:ext cx="3479750" cy="2983110"/>
          </a:xfrm>
          <a:prstGeom prst="roundRect">
            <a:avLst>
              <a:gd name="adj" fmla="val 5108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9600" y="7732273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6"/>
          <p:cNvSpPr/>
          <p:nvPr/>
        </p:nvSpPr>
        <p:spPr>
          <a:xfrm>
            <a:off x="-2108200" y="355340"/>
            <a:ext cx="1381125" cy="247650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65379" y="-1474330"/>
            <a:ext cx="949642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20722" y="2208907"/>
            <a:ext cx="1333500" cy="1333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101" y="-3195315"/>
            <a:ext cx="1333500" cy="1333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0969" y="2368662"/>
            <a:ext cx="1333500" cy="1333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-3746600" y="-836173"/>
            <a:ext cx="115824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FFFFF"/>
                </a:solidFill>
                <a:latin typeface="Plus Jakarta Sans"/>
              </a:rPr>
              <a:t>PROJECT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3614782" y="-13779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Project Proposal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743" y="7213262"/>
            <a:ext cx="1964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Inter"/>
              </a:rPr>
              <a:t>Academic Proposal Deck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10875" y="7310843"/>
            <a:ext cx="7715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Slide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-1993900" y="393440"/>
            <a:ext cx="1247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TEAM PROFILES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-4781036" y="4254612"/>
            <a:ext cx="3754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>
                <a:solidFill>
                  <a:srgbClr val="CBD5E1"/>
                </a:solidFill>
                <a:latin typeface="Inter"/>
              </a:rPr>
              <a:t>Leads strategic planning, timeline execution, and cross-functional coordination.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737" y="-1061715"/>
            <a:ext cx="3754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Architects user flows, visual identity system, and interface wireframes.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18511" y="4501067"/>
            <a:ext cx="3754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 dirty="0">
                <a:solidFill>
                  <a:srgbClr val="CBD5E1"/>
                </a:solidFill>
                <a:latin typeface="Inter"/>
              </a:rPr>
              <a:t>Engineers front-end components, API integrations, and system architecture.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-4279150" y="3694807"/>
            <a:ext cx="285035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Member 01 — [Name]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-4211284" y="3999607"/>
            <a:ext cx="2714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Project Manager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669" y="-1709415"/>
            <a:ext cx="29003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Member 02 — [Name]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14726" y="-1404615"/>
            <a:ext cx="2762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UI/UX Designer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657538" y="3854562"/>
            <a:ext cx="29003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Member 03 — [Name]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26594" y="4159362"/>
            <a:ext cx="2762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Lead Developer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FDA4C6-D7A0-0EC1-A2EC-592A9F7B6BE9}"/>
              </a:ext>
            </a:extLst>
          </p:cNvPr>
          <p:cNvSpPr/>
          <p:nvPr/>
        </p:nvSpPr>
        <p:spPr>
          <a:xfrm>
            <a:off x="19916441" y="2266057"/>
            <a:ext cx="1272976" cy="127635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68624F-BD6D-3B90-0828-F196246C577B}"/>
              </a:ext>
            </a:extLst>
          </p:cNvPr>
          <p:cNvSpPr/>
          <p:nvPr/>
        </p:nvSpPr>
        <p:spPr>
          <a:xfrm>
            <a:off x="4356050" y="7922063"/>
            <a:ext cx="1272976" cy="127635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DABFFF-26DA-2DAE-9AC8-B8D1E4225CDC}"/>
              </a:ext>
            </a:extLst>
          </p:cNvPr>
          <p:cNvSpPr/>
          <p:nvPr/>
        </p:nvSpPr>
        <p:spPr>
          <a:xfrm>
            <a:off x="-9254816" y="2397237"/>
            <a:ext cx="1272976" cy="127635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7E4C4-D7A1-77E3-8ADD-3FB107959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F08A614-551D-653C-D099-499AEDADFF6C}"/>
              </a:ext>
            </a:extLst>
          </p:cNvPr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A6B5BD3F-2D41-9A05-97AB-7A392460DE9D}"/>
              </a:ext>
            </a:extLst>
          </p:cNvPr>
          <p:cNvSpPr/>
          <p:nvPr/>
        </p:nvSpPr>
        <p:spPr>
          <a:xfrm>
            <a:off x="586531" y="2480369"/>
            <a:ext cx="3479750" cy="2983110"/>
          </a:xfrm>
          <a:prstGeom prst="roundRect">
            <a:avLst>
              <a:gd name="adj" fmla="val 5108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1098887D-864A-742F-A23A-18D8F8B3F7DF}"/>
              </a:ext>
            </a:extLst>
          </p:cNvPr>
          <p:cNvSpPr/>
          <p:nvPr/>
        </p:nvSpPr>
        <p:spPr>
          <a:xfrm>
            <a:off x="4356050" y="2480369"/>
            <a:ext cx="3479750" cy="2983110"/>
          </a:xfrm>
          <a:prstGeom prst="roundRect">
            <a:avLst>
              <a:gd name="adj" fmla="val 5108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4">
            <a:extLst>
              <a:ext uri="{FF2B5EF4-FFF2-40B4-BE49-F238E27FC236}">
                <a16:creationId xmlns:a16="http://schemas.microsoft.com/office/drawing/2014/main" id="{D1923730-86FF-8212-2869-41AB46605679}"/>
              </a:ext>
            </a:extLst>
          </p:cNvPr>
          <p:cNvSpPr/>
          <p:nvPr/>
        </p:nvSpPr>
        <p:spPr>
          <a:xfrm>
            <a:off x="8102500" y="2480369"/>
            <a:ext cx="3479750" cy="2983110"/>
          </a:xfrm>
          <a:prstGeom prst="roundRect">
            <a:avLst>
              <a:gd name="adj" fmla="val 5108"/>
            </a:avLst>
          </a:prstGeom>
          <a:solidFill>
            <a:srgbClr val="1A2436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3A6B70-098C-363C-6EE4-09F16057799D}"/>
              </a:ext>
            </a:extLst>
          </p:cNvPr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55E3D350-9E02-5955-8F4E-BF07E6BB7057}"/>
              </a:ext>
            </a:extLst>
          </p:cNvPr>
          <p:cNvSpPr/>
          <p:nvPr/>
        </p:nvSpPr>
        <p:spPr>
          <a:xfrm>
            <a:off x="609600" y="533400"/>
            <a:ext cx="1381125" cy="247650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1492AA-8D8A-10C6-7B12-0D65DE033A85}"/>
              </a:ext>
            </a:extLst>
          </p:cNvPr>
          <p:cNvSpPr/>
          <p:nvPr/>
        </p:nvSpPr>
        <p:spPr>
          <a:xfrm>
            <a:off x="2085975" y="652462"/>
            <a:ext cx="949642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CAC47E1B-C0CF-13E6-E60E-3696DB923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650" y="2718494"/>
            <a:ext cx="1333500" cy="1333500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9637323D-867D-0A6A-00D9-34A3F0725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101" y="2718494"/>
            <a:ext cx="1333500" cy="1333500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58FAB3C8-ECF0-52FB-D167-76D2EF09E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5551" y="2718494"/>
            <a:ext cx="1333500" cy="13335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054EA63-71B9-4E75-E22D-F8476A16C44C}"/>
              </a:ext>
            </a:extLst>
          </p:cNvPr>
          <p:cNvSpPr txBox="1"/>
          <p:nvPr/>
        </p:nvSpPr>
        <p:spPr>
          <a:xfrm>
            <a:off x="609600" y="857250"/>
            <a:ext cx="115824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PROJECT TEAM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8FD680-B80F-4850-F8F0-F30F01BB53BC}"/>
              </a:ext>
            </a:extLst>
          </p:cNvPr>
          <p:cNvSpPr txBox="1"/>
          <p:nvPr/>
        </p:nvSpPr>
        <p:spPr>
          <a:xfrm>
            <a:off x="609600" y="151447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Project Proposal Presentation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44AAFC-F1AD-3F61-B41A-1DF7A55A7CDB}"/>
              </a:ext>
            </a:extLst>
          </p:cNvPr>
          <p:cNvSpPr txBox="1"/>
          <p:nvPr/>
        </p:nvSpPr>
        <p:spPr>
          <a:xfrm>
            <a:off x="609600" y="6162675"/>
            <a:ext cx="1964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Academic Proposal Deck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B871CD-9D61-5099-8F8B-285F3A1F0F93}"/>
              </a:ext>
            </a:extLst>
          </p:cNvPr>
          <p:cNvSpPr txBox="1"/>
          <p:nvPr/>
        </p:nvSpPr>
        <p:spPr>
          <a:xfrm>
            <a:off x="11096625" y="6162675"/>
            <a:ext cx="7715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Slide 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9F3DA0-84AF-D852-E2BD-44A430824DA3}"/>
              </a:ext>
            </a:extLst>
          </p:cNvPr>
          <p:cNvSpPr txBox="1"/>
          <p:nvPr/>
        </p:nvSpPr>
        <p:spPr>
          <a:xfrm>
            <a:off x="723900" y="571500"/>
            <a:ext cx="1247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TEAM PROFILES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457F0E-AF0E-3DCC-7285-04D250DA56A1}"/>
              </a:ext>
            </a:extLst>
          </p:cNvPr>
          <p:cNvSpPr txBox="1"/>
          <p:nvPr/>
        </p:nvSpPr>
        <p:spPr>
          <a:xfrm>
            <a:off x="472287" y="4852094"/>
            <a:ext cx="37543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Leads strategic planning, timeline execution, and 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</a:b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cross-functional coordination.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39C55-D2F0-9DB7-4A5B-4F3039847F09}"/>
              </a:ext>
            </a:extLst>
          </p:cNvPr>
          <p:cNvSpPr txBox="1"/>
          <p:nvPr/>
        </p:nvSpPr>
        <p:spPr>
          <a:xfrm>
            <a:off x="4218737" y="4852094"/>
            <a:ext cx="37543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Architects user flows, visual identity system, and 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</a:b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interface wireframes.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E7DAE3-A2AB-1AC6-12C3-07EDD0D5A502}"/>
              </a:ext>
            </a:extLst>
          </p:cNvPr>
          <p:cNvSpPr txBox="1"/>
          <p:nvPr/>
        </p:nvSpPr>
        <p:spPr>
          <a:xfrm>
            <a:off x="7965188" y="4852094"/>
            <a:ext cx="37543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Engineers front-end components, API integrations, and 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</a:b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system architecture.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2BE27B-6481-0D36-A7E0-9E42DAA5325A}"/>
              </a:ext>
            </a:extLst>
          </p:cNvPr>
          <p:cNvSpPr txBox="1"/>
          <p:nvPr/>
        </p:nvSpPr>
        <p:spPr>
          <a:xfrm>
            <a:off x="1504620" y="4204394"/>
            <a:ext cx="168956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KHON MENGHONG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F211F4-9B79-29C5-2370-B12EC009D4D8}"/>
              </a:ext>
            </a:extLst>
          </p:cNvPr>
          <p:cNvSpPr txBox="1"/>
          <p:nvPr/>
        </p:nvSpPr>
        <p:spPr>
          <a:xfrm>
            <a:off x="992088" y="4509194"/>
            <a:ext cx="2714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Project Manager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B2D1AD-6D91-031F-4CC0-828758C4D0B6}"/>
              </a:ext>
            </a:extLst>
          </p:cNvPr>
          <p:cNvSpPr txBox="1"/>
          <p:nvPr/>
        </p:nvSpPr>
        <p:spPr>
          <a:xfrm>
            <a:off x="5859889" y="4204394"/>
            <a:ext cx="471924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LY NE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41C450-5A2F-9C91-7935-038C627D0CC8}"/>
              </a:ext>
            </a:extLst>
          </p:cNvPr>
          <p:cNvSpPr txBox="1"/>
          <p:nvPr/>
        </p:nvSpPr>
        <p:spPr>
          <a:xfrm>
            <a:off x="4714726" y="4509194"/>
            <a:ext cx="2762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UI/UX Designer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D1A549-6E88-5471-EA2B-78B071FE606D}"/>
              </a:ext>
            </a:extLst>
          </p:cNvPr>
          <p:cNvSpPr txBox="1"/>
          <p:nvPr/>
        </p:nvSpPr>
        <p:spPr>
          <a:xfrm>
            <a:off x="9266280" y="4204394"/>
            <a:ext cx="115204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TheaRa</a:t>
            </a: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THAT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879145-BB4B-7F41-0D40-EF197F739343}"/>
              </a:ext>
            </a:extLst>
          </p:cNvPr>
          <p:cNvSpPr txBox="1"/>
          <p:nvPr/>
        </p:nvSpPr>
        <p:spPr>
          <a:xfrm>
            <a:off x="8461176" y="4509194"/>
            <a:ext cx="2762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Lead Developer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4745B9-FD98-3F00-862E-BF4DA33759F3}"/>
              </a:ext>
            </a:extLst>
          </p:cNvPr>
          <p:cNvSpPr/>
          <p:nvPr/>
        </p:nvSpPr>
        <p:spPr>
          <a:xfrm>
            <a:off x="1711524" y="2738603"/>
            <a:ext cx="1272976" cy="127635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D99ACB-27F9-273B-5C8B-0C3A78ADC1B2}"/>
              </a:ext>
            </a:extLst>
          </p:cNvPr>
          <p:cNvSpPr/>
          <p:nvPr/>
        </p:nvSpPr>
        <p:spPr>
          <a:xfrm>
            <a:off x="5458982" y="2738603"/>
            <a:ext cx="1272976" cy="127635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24EFBA-0ABA-CEC1-6A93-A16790E6721F}"/>
              </a:ext>
            </a:extLst>
          </p:cNvPr>
          <p:cNvSpPr/>
          <p:nvPr/>
        </p:nvSpPr>
        <p:spPr>
          <a:xfrm>
            <a:off x="9209492" y="2744953"/>
            <a:ext cx="1272976" cy="1276350"/>
          </a:xfrm>
          <a:prstGeom prst="ellipse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690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533400"/>
            <a:ext cx="1011584" cy="285750"/>
          </a:xfrm>
          <a:prstGeom prst="roundRect">
            <a:avLst>
              <a:gd name="adj" fmla="val 20000"/>
            </a:avLst>
          </a:prstGeom>
          <a:solidFill>
            <a:srgbClr val="091D29"/>
          </a:solidFill>
          <a:ln w="9525">
            <a:solidFill>
              <a:srgbClr val="0E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11684" y="533400"/>
            <a:ext cx="1465064" cy="285750"/>
          </a:xfrm>
          <a:prstGeom prst="roundRect">
            <a:avLst>
              <a:gd name="adj" fmla="val 20000"/>
            </a:avLst>
          </a:prstGeom>
          <a:solidFill>
            <a:srgbClr val="0B162A"/>
          </a:solidFill>
          <a:ln w="9525">
            <a:solidFill>
              <a:srgbClr val="142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6000750"/>
            <a:ext cx="10820400" cy="9525"/>
          </a:xfrm>
          <a:prstGeom prst="rect">
            <a:avLst/>
          </a:prstGeom>
          <a:solidFill>
            <a:srgbClr val="1E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62700" y="2092821"/>
            <a:ext cx="5143500" cy="2634257"/>
          </a:xfrm>
          <a:prstGeom prst="roundRect">
            <a:avLst>
              <a:gd name="adj" fmla="val 5062"/>
            </a:avLst>
          </a:prstGeom>
          <a:solidFill>
            <a:srgbClr val="0B1220"/>
          </a:solidFill>
          <a:ln w="9525">
            <a:solidFill>
              <a:srgbClr val="1E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4206329"/>
            <a:ext cx="1200150" cy="333375"/>
          </a:xfrm>
          <a:prstGeom prst="roundRect">
            <a:avLst>
              <a:gd name="adj" fmla="val 22857"/>
            </a:avLst>
          </a:prstGeom>
          <a:solidFill>
            <a:srgbClr val="0A111E"/>
          </a:solidFill>
          <a:ln w="9525">
            <a:solidFill>
              <a:srgbClr val="1E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81200" y="4206329"/>
            <a:ext cx="1104900" cy="333375"/>
          </a:xfrm>
          <a:prstGeom prst="roundRect">
            <a:avLst>
              <a:gd name="adj" fmla="val 22857"/>
            </a:avLst>
          </a:prstGeom>
          <a:solidFill>
            <a:srgbClr val="0A111E"/>
          </a:solidFill>
          <a:ln w="9525">
            <a:solidFill>
              <a:srgbClr val="1E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81350" y="4206329"/>
            <a:ext cx="1657350" cy="333375"/>
          </a:xfrm>
          <a:prstGeom prst="roundRect">
            <a:avLst>
              <a:gd name="adj" fmla="val 22857"/>
            </a:avLst>
          </a:prstGeom>
          <a:solidFill>
            <a:srgbClr val="0A111E"/>
          </a:solidFill>
          <a:ln w="9525">
            <a:solidFill>
              <a:srgbClr val="1E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2225" y="2102346"/>
            <a:ext cx="5124450" cy="409575"/>
          </a:xfrm>
          <a:prstGeom prst="rect">
            <a:avLst/>
          </a:prstGeom>
          <a:solidFill>
            <a:srgbClr val="07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72225" y="2502396"/>
            <a:ext cx="5124450" cy="9525"/>
          </a:xfrm>
          <a:prstGeom prst="rect">
            <a:avLst/>
          </a:prstGeom>
          <a:solidFill>
            <a:srgbClr val="1E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19875" y="4203501"/>
            <a:ext cx="4629150" cy="30450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43675" y="2254746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96075" y="2254746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48475" y="2254746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19875" y="4203501"/>
            <a:ext cx="4629150" cy="9525"/>
          </a:xfrm>
          <a:prstGeom prst="rect">
            <a:avLst/>
          </a:prstGeom>
          <a:solidFill>
            <a:srgbClr val="1E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4315866"/>
            <a:ext cx="142875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75" y="4315866"/>
            <a:ext cx="104775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4225" y="4315866"/>
            <a:ext cx="1047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875" y="4362896"/>
            <a:ext cx="114300" cy="1095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9150" y="590550"/>
            <a:ext cx="84013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D3EE"/>
                </a:solidFill>
                <a:latin typeface="Space Grotesk"/>
              </a:rPr>
              <a:t>E-LEARNING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5034" y="590550"/>
            <a:ext cx="129361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B82F6"/>
                </a:solidFill>
                <a:latin typeface="Space Grotesk"/>
              </a:rPr>
              <a:t>WEB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62675"/>
            <a:ext cx="3012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Coding &amp; Programming Learning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162675"/>
            <a:ext cx="590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JetBrains Mono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280046"/>
            <a:ext cx="6750843" cy="6994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508"/>
              </a:lnSpc>
              <a:defRPr/>
            </a:pPr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CODFLOW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074789"/>
            <a:ext cx="642937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0" i="0" u="none">
                <a:solidFill>
                  <a:srgbClr val="22D3EE"/>
                </a:solidFill>
                <a:latin typeface="Space Grotesk"/>
              </a:rPr>
              <a:t>Making Coding Simpler for Everyone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482429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Space Grotesk"/>
              </a:rPr>
              <a:t>Learn programming through structured lessons, interactive practice, smart quizzes, and real-world projects.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4282529"/>
            <a:ext cx="80962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Space Grotesk"/>
              </a:rPr>
              <a:t>HTML &amp; CSS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5525" y="4282529"/>
            <a:ext cx="7524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Space Grotesk"/>
              </a:rPr>
              <a:t> JavaScript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5675" y="4282529"/>
            <a:ext cx="130492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Space Grotesk"/>
              </a:rPr>
              <a:t>Interactive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0087" y="2235696"/>
            <a:ext cx="179784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codflow-workspace.js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9875" y="2721471"/>
            <a:ext cx="5572125" cy="212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0" i="0" u="none">
                <a:solidFill>
                  <a:srgbClr val="8B5CF6"/>
                </a:solidFill>
                <a:latin typeface="JetBrains Mono"/>
              </a:rPr>
              <a:t>function</a:t>
            </a:r>
            <a:r>
              <a:rPr sz="1012" b="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sz="1012" b="0" i="0" u="none">
                <a:solidFill>
                  <a:srgbClr val="3B82F6"/>
                </a:solidFill>
                <a:latin typeface="JetBrains Mono"/>
              </a:rPr>
              <a:t>learnCoding</a:t>
            </a:r>
            <a:r>
              <a:rPr sz="1012" b="0" i="0" u="none">
                <a:solidFill>
                  <a:srgbClr val="F8FAFC"/>
                </a:solidFill>
                <a:latin typeface="JetBrains Mono"/>
              </a:rPr>
              <a:t>()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9425" y="2933551"/>
            <a:ext cx="5362575" cy="212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0" i="0" u="none">
                <a:solidFill>
                  <a:srgbClr val="8B5CF6"/>
                </a:solidFill>
                <a:latin typeface="JetBrains Mono"/>
              </a:rPr>
              <a:t>const</a:t>
            </a:r>
            <a:r>
              <a:rPr sz="1012" b="0" i="0" u="none">
                <a:solidFill>
                  <a:srgbClr val="F8FAFC"/>
                </a:solidFill>
                <a:latin typeface="JetBrains Mono"/>
              </a:rPr>
              <a:t> skills = [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8975" y="3145631"/>
            <a:ext cx="5153025" cy="212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0" i="0" u="none">
                <a:solidFill>
                  <a:srgbClr val="22D3EE"/>
                </a:solidFill>
                <a:latin typeface="JetBrains Mono"/>
              </a:rPr>
              <a:t>"HTML"</a:t>
            </a:r>
            <a:r>
              <a:rPr sz="1012" b="0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sz="1012" b="0" i="0" u="none">
                <a:solidFill>
                  <a:srgbClr val="22D3EE"/>
                </a:solidFill>
                <a:latin typeface="JetBrains Mono"/>
              </a:rPr>
              <a:t>"CSS"</a:t>
            </a:r>
            <a:r>
              <a:rPr sz="1012" b="0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sz="1012" b="0" i="0" u="none">
                <a:solidFill>
                  <a:srgbClr val="22D3EE"/>
                </a:solidFill>
                <a:latin typeface="JetBrains Mono"/>
              </a:rPr>
              <a:t>"JavaScript"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425" y="3357711"/>
            <a:ext cx="5362575" cy="212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0" i="0" u="none">
                <a:solidFill>
                  <a:srgbClr val="F8FAFC"/>
                </a:solidFill>
                <a:latin typeface="JetBrains Mono"/>
              </a:rPr>
              <a:t>];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9425" y="3645991"/>
            <a:ext cx="5362575" cy="212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0" i="0" u="none">
                <a:solidFill>
                  <a:srgbClr val="8B5CF6"/>
                </a:solidFill>
                <a:latin typeface="JetBrains Mono"/>
              </a:rPr>
              <a:t>return</a:t>
            </a:r>
            <a:r>
              <a:rPr sz="1012" b="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sz="1012" b="0" i="0" u="none">
                <a:solidFill>
                  <a:srgbClr val="22D3EE"/>
                </a:solidFill>
                <a:latin typeface="JetBrains Mono"/>
              </a:rPr>
              <a:t>"Build. Practice. Improve."</a:t>
            </a:r>
            <a:r>
              <a:rPr sz="1012" b="0" i="0" u="none">
                <a:solidFill>
                  <a:srgbClr val="F8FAFC"/>
                </a:solidFill>
                <a:latin typeface="JetBrains Mono"/>
              </a:rPr>
              <a:t>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9875" y="3858071"/>
            <a:ext cx="5572125" cy="212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0" i="0" u="none">
                <a:solidFill>
                  <a:srgbClr val="F8FAFC"/>
                </a:solidFill>
                <a:latin typeface="JetBrains Mono"/>
              </a:rPr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0375" y="4327326"/>
            <a:ext cx="3333750" cy="1806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23"/>
              </a:lnSpc>
            </a:pPr>
            <a:r>
              <a:rPr sz="862" b="0" i="0" u="none">
                <a:solidFill>
                  <a:srgbClr val="94A3B8"/>
                </a:solidFill>
                <a:latin typeface="JetBrains Mono"/>
              </a:rPr>
              <a:t>Platform ready &amp; optimized for learners.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48850" y="1902321"/>
            <a:ext cx="1771650" cy="552450"/>
          </a:xfrm>
          <a:prstGeom prst="roundRect">
            <a:avLst>
              <a:gd name="adj" fmla="val 20689"/>
            </a:avLst>
          </a:prstGeom>
          <a:solidFill>
            <a:srgbClr val="0B121F"/>
          </a:solidFill>
          <a:ln w="9525">
            <a:solidFill>
              <a:srgbClr val="1E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72200" y="4327028"/>
            <a:ext cx="2019300" cy="552450"/>
          </a:xfrm>
          <a:prstGeom prst="roundRect">
            <a:avLst>
              <a:gd name="adj" fmla="val 20689"/>
            </a:avLst>
          </a:prstGeom>
          <a:solidFill>
            <a:srgbClr val="0B121F"/>
          </a:solidFill>
          <a:ln w="9525">
            <a:solidFill>
              <a:srgbClr val="1E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25" y="2026146"/>
            <a:ext cx="304800" cy="3048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4450853"/>
            <a:ext cx="304800" cy="3048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0787" y="2116633"/>
            <a:ext cx="142875" cy="1238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4541341"/>
            <a:ext cx="152400" cy="1238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448925" y="2030908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Space Grotesk"/>
              </a:rPr>
              <a:t>300+ Challenges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8925" y="2192833"/>
            <a:ext cx="12763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Space Grotesk"/>
              </a:rPr>
              <a:t>Real-world tasks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72275" y="4455616"/>
            <a:ext cx="1547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Space Grotesk"/>
              </a:rPr>
              <a:t>45+ Interactive Labs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72275" y="4617541"/>
            <a:ext cx="15478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Space Grotesk"/>
              </a:rPr>
              <a:t>Live browser sandbox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1514475"/>
            <a:ext cx="5353050" cy="4886325"/>
          </a:xfrm>
          <a:prstGeom prst="roundRect">
            <a:avLst>
              <a:gd name="adj" fmla="val 3118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29350" y="1514475"/>
            <a:ext cx="5353050" cy="4886325"/>
          </a:xfrm>
          <a:prstGeom prst="roundRect">
            <a:avLst>
              <a:gd name="adj" fmla="val 3118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2025" y="5629275"/>
            <a:ext cx="46482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1775" y="5629275"/>
            <a:ext cx="46482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2025" y="5629275"/>
            <a:ext cx="464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1775" y="5629275"/>
            <a:ext cx="464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1866900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58721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1866900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5872162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900" y="2019300"/>
            <a:ext cx="2571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250" y="200025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77575" y="457200"/>
            <a:ext cx="7905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4369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14375"/>
            <a:ext cx="458807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Project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2590800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Inter"/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105" y="2827595"/>
            <a:ext cx="6100762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FFFFF"/>
                </a:solidFill>
                <a:latin typeface="Space Grotesk"/>
              </a:rPr>
              <a:t>E-Learning / Web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324225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Interactive web application engineered for programming education, structured lesson delivery, and clean syntax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75" y="5867400"/>
            <a:ext cx="2512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CBD5E1"/>
                </a:solidFill>
                <a:latin typeface="Inter"/>
              </a:rPr>
              <a:t>Modern Interactive Pedagogy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2590800"/>
            <a:ext cx="56102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D3EE"/>
                </a:solidFill>
                <a:latin typeface="Inter"/>
              </a:rPr>
              <a:t>HOSTING &amp;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880" y="2833187"/>
            <a:ext cx="56102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FFFFFF"/>
                </a:solidFill>
                <a:latin typeface="Space Grotesk"/>
              </a:rPr>
              <a:t>Vercel</a:t>
            </a:r>
            <a:r>
              <a:rPr sz="2100" b="1" i="0" u="none" dirty="0">
                <a:solidFill>
                  <a:srgbClr val="FFFFFF"/>
                </a:solidFill>
                <a:latin typeface="Space Grotesk"/>
              </a:rPr>
              <a:t> Edge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0973" y="3350940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Deployed globally on cloud edge network infrastructure to deliver instant loading speeds and continuous availability.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475" y="5867400"/>
            <a:ext cx="252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Ultra-low Latency Global CDN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92B8-D329-9B93-4EA6-C9C22A0A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498C28D-7B90-05FA-2EB2-E508E9BA1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768A278-3C42-57BD-6E8B-1536E1664690}"/>
              </a:ext>
            </a:extLst>
          </p:cNvPr>
          <p:cNvSpPr/>
          <p:nvPr/>
        </p:nvSpPr>
        <p:spPr>
          <a:xfrm>
            <a:off x="609600" y="1514475"/>
            <a:ext cx="5353050" cy="4886325"/>
          </a:xfrm>
          <a:prstGeom prst="roundRect">
            <a:avLst>
              <a:gd name="adj" fmla="val 3118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8364F3-C8BE-D15B-722B-90AAACDB7CDC}"/>
              </a:ext>
            </a:extLst>
          </p:cNvPr>
          <p:cNvSpPr/>
          <p:nvPr/>
        </p:nvSpPr>
        <p:spPr>
          <a:xfrm>
            <a:off x="6229350" y="1514475"/>
            <a:ext cx="5353050" cy="4886325"/>
          </a:xfrm>
          <a:prstGeom prst="roundRect">
            <a:avLst>
              <a:gd name="adj" fmla="val 3118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97AA4-7756-26F6-711C-B1552C1A43A5}"/>
              </a:ext>
            </a:extLst>
          </p:cNvPr>
          <p:cNvSpPr/>
          <p:nvPr/>
        </p:nvSpPr>
        <p:spPr>
          <a:xfrm>
            <a:off x="962025" y="5629275"/>
            <a:ext cx="46482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0EFF12-9BF5-08F5-1F6C-15BC6935A6EF}"/>
              </a:ext>
            </a:extLst>
          </p:cNvPr>
          <p:cNvSpPr/>
          <p:nvPr/>
        </p:nvSpPr>
        <p:spPr>
          <a:xfrm>
            <a:off x="6581775" y="5629275"/>
            <a:ext cx="46482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A60CD9-ADA8-DAC4-3EF2-B0F89CECA748}"/>
              </a:ext>
            </a:extLst>
          </p:cNvPr>
          <p:cNvSpPr/>
          <p:nvPr/>
        </p:nvSpPr>
        <p:spPr>
          <a:xfrm>
            <a:off x="962025" y="5629275"/>
            <a:ext cx="464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516C0-F7A9-CE9D-75F8-2DA9F7680DA8}"/>
              </a:ext>
            </a:extLst>
          </p:cNvPr>
          <p:cNvSpPr/>
          <p:nvPr/>
        </p:nvSpPr>
        <p:spPr>
          <a:xfrm>
            <a:off x="6581775" y="5629275"/>
            <a:ext cx="464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F4CCF32-3BC1-E1AC-0935-35465A3E1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1866900"/>
            <a:ext cx="495300" cy="49530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BD51ECFE-3D8B-3114-45C3-5D7F66D85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58721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4423F8A0-13C9-CF32-BB27-A34F8AA52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1866900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00C387A6-0B37-AC4E-3A23-7F6A82110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5872162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ECB24C86-FA88-8D8A-02F1-C7D62D6353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087" y="2000250"/>
            <a:ext cx="257175" cy="2286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B03360A3-622A-4319-4AAC-5C3A9EE16A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2000250"/>
            <a:ext cx="228600" cy="228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9719ED-A4BA-4635-F125-5A8FA90C02AB}"/>
              </a:ext>
            </a:extLst>
          </p:cNvPr>
          <p:cNvSpPr txBox="1"/>
          <p:nvPr/>
        </p:nvSpPr>
        <p:spPr>
          <a:xfrm>
            <a:off x="11077575" y="457200"/>
            <a:ext cx="7905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31CF20-D643-37D5-C97C-F87863E123A7}"/>
              </a:ext>
            </a:extLst>
          </p:cNvPr>
          <p:cNvSpPr txBox="1"/>
          <p:nvPr/>
        </p:nvSpPr>
        <p:spPr>
          <a:xfrm>
            <a:off x="609600" y="457200"/>
            <a:ext cx="4369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2DC9A7-E916-8092-7F8E-CB2184C1CFE3}"/>
              </a:ext>
            </a:extLst>
          </p:cNvPr>
          <p:cNvSpPr txBox="1"/>
          <p:nvPr/>
        </p:nvSpPr>
        <p:spPr>
          <a:xfrm>
            <a:off x="609600" y="714375"/>
            <a:ext cx="458807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Project Introduction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AD738-1C8B-C28B-CC01-89FBE365B32D}"/>
              </a:ext>
            </a:extLst>
          </p:cNvPr>
          <p:cNvSpPr txBox="1"/>
          <p:nvPr/>
        </p:nvSpPr>
        <p:spPr>
          <a:xfrm>
            <a:off x="962025" y="2590800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CATEGORY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3C53C8-4095-559F-B341-BBE9402B1B28}"/>
              </a:ext>
            </a:extLst>
          </p:cNvPr>
          <p:cNvSpPr txBox="1"/>
          <p:nvPr/>
        </p:nvSpPr>
        <p:spPr>
          <a:xfrm>
            <a:off x="962025" y="2828925"/>
            <a:ext cx="6100762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Space Grotesk"/>
              </a:rPr>
              <a:t>E-Learning / Web Dev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88BCA8-7DF9-9A01-2E78-A9EFDC98DFC3}"/>
              </a:ext>
            </a:extLst>
          </p:cNvPr>
          <p:cNvSpPr txBox="1"/>
          <p:nvPr/>
        </p:nvSpPr>
        <p:spPr>
          <a:xfrm>
            <a:off x="962025" y="3324225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Interactive web application engineered for programming education, structured lesson delivery, and clean syntax presentation.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4112F9-90B3-4841-A38F-AFC65EF79E3E}"/>
              </a:ext>
            </a:extLst>
          </p:cNvPr>
          <p:cNvSpPr txBox="1"/>
          <p:nvPr/>
        </p:nvSpPr>
        <p:spPr>
          <a:xfrm>
            <a:off x="1247775" y="5867400"/>
            <a:ext cx="2512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Modern Interactive Pedagogy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F982D5-4730-576A-142B-6FBED92EFCC9}"/>
              </a:ext>
            </a:extLst>
          </p:cNvPr>
          <p:cNvSpPr txBox="1"/>
          <p:nvPr/>
        </p:nvSpPr>
        <p:spPr>
          <a:xfrm>
            <a:off x="6581775" y="2590800"/>
            <a:ext cx="56102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D3EE"/>
                </a:solidFill>
                <a:latin typeface="Inter"/>
              </a:rPr>
              <a:t>HOSTING &amp; INFRASTRUCTURE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463E77-6907-DB65-F06A-2A430841B719}"/>
              </a:ext>
            </a:extLst>
          </p:cNvPr>
          <p:cNvSpPr txBox="1"/>
          <p:nvPr/>
        </p:nvSpPr>
        <p:spPr>
          <a:xfrm>
            <a:off x="6581775" y="2828925"/>
            <a:ext cx="56102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Space Grotesk"/>
              </a:rPr>
              <a:t>Vercel Edge Platform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33D0DB-60CE-6CFB-037F-608697B0DD98}"/>
              </a:ext>
            </a:extLst>
          </p:cNvPr>
          <p:cNvSpPr txBox="1"/>
          <p:nvPr/>
        </p:nvSpPr>
        <p:spPr>
          <a:xfrm>
            <a:off x="6581775" y="3324225"/>
            <a:ext cx="47434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Deployed globally on cloud edge network infrastructure to deliver instant loading speeds and continuous availability.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417823-9849-D542-7CCB-91A572D5B680}"/>
              </a:ext>
            </a:extLst>
          </p:cNvPr>
          <p:cNvSpPr txBox="1"/>
          <p:nvPr/>
        </p:nvSpPr>
        <p:spPr>
          <a:xfrm>
            <a:off x="6848475" y="5867400"/>
            <a:ext cx="2524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Ultra-low Latency Global CDN</a:t>
            </a:r>
          </a:p>
        </p:txBody>
      </p:sp>
    </p:spTree>
    <p:extLst>
      <p:ext uri="{BB962C8B-B14F-4D97-AF65-F5344CB8AC3E}">
        <p14:creationId xmlns:p14="http://schemas.microsoft.com/office/powerpoint/2010/main" val="1539031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84AF-35B5-2D1A-4702-AB6C923D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1F5D94A-9D31-93FE-E077-9EBD6ABE7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72CD73-8ED6-EC0F-B136-CAF614F3DAC2}"/>
              </a:ext>
            </a:extLst>
          </p:cNvPr>
          <p:cNvSpPr/>
          <p:nvPr/>
        </p:nvSpPr>
        <p:spPr>
          <a:xfrm>
            <a:off x="682914" y="1313389"/>
            <a:ext cx="4681537" cy="4924425"/>
          </a:xfrm>
          <a:prstGeom prst="roundRect">
            <a:avLst>
              <a:gd name="adj" fmla="val 3255"/>
            </a:avLst>
          </a:prstGeom>
          <a:solidFill>
            <a:srgbClr val="0B181E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D787870-DB00-1BB0-5BE7-E720FDBF1B7A}"/>
              </a:ext>
            </a:extLst>
          </p:cNvPr>
          <p:cNvSpPr/>
          <p:nvPr/>
        </p:nvSpPr>
        <p:spPr>
          <a:xfrm>
            <a:off x="1058143" y="5187950"/>
            <a:ext cx="4052887" cy="8572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9525">
            <a:solidFill>
              <a:srgbClr val="0C3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BDA837-F8AF-44E5-AA7C-6AAAD653E88F}"/>
              </a:ext>
            </a:extLst>
          </p:cNvPr>
          <p:cNvSpPr/>
          <p:nvPr/>
        </p:nvSpPr>
        <p:spPr>
          <a:xfrm>
            <a:off x="1058143" y="1749425"/>
            <a:ext cx="1304925" cy="228600"/>
          </a:xfrm>
          <a:prstGeom prst="roundRect">
            <a:avLst>
              <a:gd name="adj" fmla="val 50000"/>
            </a:avLst>
          </a:prstGeom>
          <a:solidFill>
            <a:srgbClr val="0C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8B3CBC5F-3F57-1F7C-CF3E-5F45E22BF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822" y="3693295"/>
            <a:ext cx="533400" cy="53340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5704B9F8-B5F3-CDD5-32B2-8AFDE35CA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7183" y="3562501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EDFE3E17-8617-AC57-68EB-04BED4128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481" y="1758950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9280507C-DD19-41EF-BD8E-D36B7A1F4C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068" y="5368925"/>
            <a:ext cx="104775" cy="11430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0FCFF2FC-B9A9-AA62-9503-799EE65014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068" y="5559425"/>
            <a:ext cx="104775" cy="114300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2B053E43-BD51-876F-3E47-0194D8447B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068" y="5749925"/>
            <a:ext cx="104775" cy="114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D32EC7-E50D-65B1-D532-138817678F9D}"/>
              </a:ext>
            </a:extLst>
          </p:cNvPr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DFF3F9-F7F3-672A-973B-D1530C27334E}"/>
              </a:ext>
            </a:extLst>
          </p:cNvPr>
          <p:cNvSpPr txBox="1"/>
          <p:nvPr/>
        </p:nvSpPr>
        <p:spPr>
          <a:xfrm>
            <a:off x="609600" y="457200"/>
            <a:ext cx="606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CORE DRIVER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DBB4E-DCA9-9002-39A9-1DCCC735C428}"/>
              </a:ext>
            </a:extLst>
          </p:cNvPr>
          <p:cNvSpPr txBox="1"/>
          <p:nvPr/>
        </p:nvSpPr>
        <p:spPr>
          <a:xfrm>
            <a:off x="609600" y="714375"/>
            <a:ext cx="1927131" cy="4385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FFFFFF"/>
                </a:solidFill>
                <a:latin typeface="Space Grotesk"/>
              </a:rPr>
              <a:t>The Problem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22D432-25CE-A5B7-268D-0F73552D81DD}"/>
              </a:ext>
            </a:extLst>
          </p:cNvPr>
          <p:cNvSpPr txBox="1"/>
          <p:nvPr/>
        </p:nvSpPr>
        <p:spPr>
          <a:xfrm>
            <a:off x="1058143" y="2168525"/>
            <a:ext cx="497681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Space Grotesk"/>
              </a:rPr>
              <a:t>The Purpose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F6E881-2EA8-B21A-F2A8-A4EC82E47670}"/>
              </a:ext>
            </a:extLst>
          </p:cNvPr>
          <p:cNvSpPr txBox="1"/>
          <p:nvPr/>
        </p:nvSpPr>
        <p:spPr>
          <a:xfrm>
            <a:off x="1058143" y="2644775"/>
            <a:ext cx="414813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Provide a clean, organized hub to help learners master coding concepts step by step without friction.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BD007B-96FC-BF79-5D22-3002A9EDC1F3}"/>
              </a:ext>
            </a:extLst>
          </p:cNvPr>
          <p:cNvSpPr txBox="1"/>
          <p:nvPr/>
        </p:nvSpPr>
        <p:spPr>
          <a:xfrm>
            <a:off x="1220068" y="5349875"/>
            <a:ext cx="4661296" cy="15240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JetBrains Mono"/>
              </a:rPr>
              <a:t>Structured learning paths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A2A283-B6A9-69A4-9A1D-04315270DA9A}"/>
              </a:ext>
            </a:extLst>
          </p:cNvPr>
          <p:cNvSpPr txBox="1"/>
          <p:nvPr/>
        </p:nvSpPr>
        <p:spPr>
          <a:xfrm>
            <a:off x="1220068" y="5540375"/>
            <a:ext cx="4661296" cy="15240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JetBrains Mono"/>
              </a:rPr>
              <a:t>Clean syntax highlighting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295B9D-CB7B-BE26-60C0-D1BF7E8E097E}"/>
              </a:ext>
            </a:extLst>
          </p:cNvPr>
          <p:cNvSpPr txBox="1"/>
          <p:nvPr/>
        </p:nvSpPr>
        <p:spPr>
          <a:xfrm>
            <a:off x="1220068" y="5730875"/>
            <a:ext cx="4661296" cy="15240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JetBrains Mono"/>
              </a:rPr>
              <a:t>One-click code copying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8316D9-5890-1D97-66A7-05FBFA2717DE}"/>
              </a:ext>
            </a:extLst>
          </p:cNvPr>
          <p:cNvSpPr txBox="1"/>
          <p:nvPr/>
        </p:nvSpPr>
        <p:spPr>
          <a:xfrm>
            <a:off x="1172443" y="1787525"/>
            <a:ext cx="1171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OUR SOLUTION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9D445E1-3600-9408-5BDE-433D54744F04}"/>
              </a:ext>
            </a:extLst>
          </p:cNvPr>
          <p:cNvSpPr/>
          <p:nvPr/>
        </p:nvSpPr>
        <p:spPr>
          <a:xfrm>
            <a:off x="682675" y="1314450"/>
            <a:ext cx="4681537" cy="4924425"/>
          </a:xfrm>
          <a:prstGeom prst="roundRect">
            <a:avLst>
              <a:gd name="adj" fmla="val 3255"/>
            </a:avLst>
          </a:prstGeom>
          <a:solidFill>
            <a:srgbClr val="16121B"/>
          </a:solidFill>
          <a:ln w="9525">
            <a:solidFill>
              <a:srgbClr val="44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DC025F-091B-20A1-FDCD-26E92BACA3B5}"/>
              </a:ext>
            </a:extLst>
          </p:cNvPr>
          <p:cNvSpPr/>
          <p:nvPr/>
        </p:nvSpPr>
        <p:spPr>
          <a:xfrm>
            <a:off x="984052" y="5213350"/>
            <a:ext cx="4052887" cy="8572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9525">
            <a:solidFill>
              <a:srgbClr val="411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51A14C-ECF8-6D8C-AC95-E621CE478D1A}"/>
              </a:ext>
            </a:extLst>
          </p:cNvPr>
          <p:cNvSpPr/>
          <p:nvPr/>
        </p:nvSpPr>
        <p:spPr>
          <a:xfrm>
            <a:off x="963587" y="1775483"/>
            <a:ext cx="1638300" cy="228600"/>
          </a:xfrm>
          <a:prstGeom prst="roundRect">
            <a:avLst>
              <a:gd name="adj" fmla="val 50000"/>
            </a:avLst>
          </a:prstGeom>
          <a:solidFill>
            <a:srgbClr val="3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FA781564-1D9B-085F-229E-F3B7AA810F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8141" y="176212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55A8BA8E-B22E-81C5-72B1-9B7C88AE63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" y="5410200"/>
            <a:ext cx="85725" cy="1143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4071469C-5A6A-D8D3-E364-270BD28F07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" y="5600700"/>
            <a:ext cx="85725" cy="1143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E107F7CD-364D-4869-5CB6-C1FE8FA956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" y="5791200"/>
            <a:ext cx="85725" cy="1143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CD4C4B9-2458-16E4-E622-4A384627FBC5}"/>
              </a:ext>
            </a:extLst>
          </p:cNvPr>
          <p:cNvSpPr txBox="1"/>
          <p:nvPr/>
        </p:nvSpPr>
        <p:spPr>
          <a:xfrm>
            <a:off x="923925" y="2209800"/>
            <a:ext cx="5319414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Space Grotesk"/>
              </a:rPr>
              <a:t>The Problem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AF6885-D2DA-D00B-A939-9CC13D61F510}"/>
              </a:ext>
            </a:extLst>
          </p:cNvPr>
          <p:cNvSpPr txBox="1"/>
          <p:nvPr/>
        </p:nvSpPr>
        <p:spPr>
          <a:xfrm>
            <a:off x="984052" y="2792685"/>
            <a:ext cx="414813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Beginners and CS students struggle because study resources are scattered, messy, and hard to follow.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2D719C-3A5F-7296-B6EE-23F15D47BB44}"/>
              </a:ext>
            </a:extLst>
          </p:cNvPr>
          <p:cNvSpPr txBox="1"/>
          <p:nvPr/>
        </p:nvSpPr>
        <p:spPr>
          <a:xfrm>
            <a:off x="1085850" y="5391150"/>
            <a:ext cx="4661296" cy="15240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7171"/>
                </a:solidFill>
                <a:latin typeface="JetBrains Mono"/>
              </a:rPr>
              <a:t>Unformatted code blocks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AEF576-AEF3-A9A2-4356-AD158EC09077}"/>
              </a:ext>
            </a:extLst>
          </p:cNvPr>
          <p:cNvSpPr txBox="1"/>
          <p:nvPr/>
        </p:nvSpPr>
        <p:spPr>
          <a:xfrm>
            <a:off x="1085850" y="5581650"/>
            <a:ext cx="4661296" cy="15240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7171"/>
                </a:solidFill>
                <a:latin typeface="JetBrains Mono"/>
              </a:rPr>
              <a:t>Broken learning links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DDFDDB-A033-70DB-AF25-25E2A760CFF1}"/>
              </a:ext>
            </a:extLst>
          </p:cNvPr>
          <p:cNvSpPr txBox="1"/>
          <p:nvPr/>
        </p:nvSpPr>
        <p:spPr>
          <a:xfrm>
            <a:off x="1085850" y="5772150"/>
            <a:ext cx="4661296" cy="15240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7171"/>
                </a:solidFill>
                <a:latin typeface="JetBrains Mono"/>
              </a:rPr>
              <a:t>No sequential order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22E06B-90E3-BC1C-4A6C-6FEBA39E2563}"/>
              </a:ext>
            </a:extLst>
          </p:cNvPr>
          <p:cNvSpPr txBox="1"/>
          <p:nvPr/>
        </p:nvSpPr>
        <p:spPr>
          <a:xfrm>
            <a:off x="1077887" y="1813583"/>
            <a:ext cx="150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Inter"/>
              </a:rPr>
              <a:t>CURRENT FRICTION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F13875-401C-7F37-2A08-0FF0E3EE7DEF}"/>
              </a:ext>
            </a:extLst>
          </p:cNvPr>
          <p:cNvSpPr txBox="1"/>
          <p:nvPr/>
        </p:nvSpPr>
        <p:spPr>
          <a:xfrm>
            <a:off x="-4532933" y="625475"/>
            <a:ext cx="2300310" cy="4385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FFFFFF"/>
                </a:solidFill>
                <a:latin typeface="Space Grotesk"/>
              </a:rPr>
              <a:t>→ The Purpose</a:t>
            </a:r>
          </a:p>
        </p:txBody>
      </p:sp>
    </p:spTree>
    <p:extLst>
      <p:ext uri="{BB962C8B-B14F-4D97-AF65-F5344CB8AC3E}">
        <p14:creationId xmlns:p14="http://schemas.microsoft.com/office/powerpoint/2010/main" val="3904377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42075" y="1371600"/>
            <a:ext cx="4681537" cy="4924425"/>
          </a:xfrm>
          <a:prstGeom prst="roundRect">
            <a:avLst>
              <a:gd name="adj" fmla="val 3255"/>
            </a:avLst>
          </a:prstGeom>
          <a:solidFill>
            <a:srgbClr val="0B181E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215187" y="5229225"/>
            <a:ext cx="4052887" cy="8572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9525">
            <a:solidFill>
              <a:srgbClr val="0C3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15187" y="1790700"/>
            <a:ext cx="1304925" cy="228600"/>
          </a:xfrm>
          <a:prstGeom prst="roundRect">
            <a:avLst>
              <a:gd name="adj" fmla="val 50000"/>
            </a:avLst>
          </a:prstGeom>
          <a:solidFill>
            <a:srgbClr val="0C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3567112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275" y="3738562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8525" y="1800225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7112" y="5410200"/>
            <a:ext cx="104775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7112" y="5600700"/>
            <a:ext cx="104775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7112" y="5791200"/>
            <a:ext cx="104775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606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CORE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14375"/>
            <a:ext cx="1931619" cy="4385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FFFFFF"/>
                </a:solidFill>
                <a:latin typeface="Space Grotesk"/>
              </a:rPr>
              <a:t>The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5187" y="2209800"/>
            <a:ext cx="497681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Space Grotesk"/>
              </a:rPr>
              <a:t>The 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5187" y="2686050"/>
            <a:ext cx="414813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Provide a clean, organized hub to help learners master coding concepts step by step without friction.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7112" y="5391150"/>
            <a:ext cx="4661296" cy="15240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JetBrains Mono"/>
              </a:rPr>
              <a:t>Structured learning paths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7112" y="5581650"/>
            <a:ext cx="4661296" cy="15240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JetBrains Mono"/>
              </a:rPr>
              <a:t>Clean syntax highlighting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7112" y="5772150"/>
            <a:ext cx="4661296" cy="152400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JetBrains Mono"/>
              </a:rPr>
              <a:t>One-click code copying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9487" y="1828800"/>
            <a:ext cx="1171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OUR SOLUTION</a:t>
            </a:r>
          </a:p>
        </p:txBody>
      </p:sp>
      <p:sp>
        <p:nvSpPr>
          <p:cNvPr id="35" name="Rounded Rectangle 2"/>
          <p:cNvSpPr/>
          <p:nvPr/>
        </p:nvSpPr>
        <p:spPr>
          <a:xfrm>
            <a:off x="682675" y="1314450"/>
            <a:ext cx="4681537" cy="4924425"/>
          </a:xfrm>
          <a:prstGeom prst="roundRect">
            <a:avLst>
              <a:gd name="adj" fmla="val 3255"/>
            </a:avLst>
          </a:prstGeom>
          <a:solidFill>
            <a:srgbClr val="16121B"/>
          </a:solidFill>
          <a:ln w="9525">
            <a:solidFill>
              <a:srgbClr val="44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4"/>
          <p:cNvSpPr/>
          <p:nvPr/>
        </p:nvSpPr>
        <p:spPr>
          <a:xfrm>
            <a:off x="984052" y="5213350"/>
            <a:ext cx="4052887" cy="8572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9525">
            <a:solidFill>
              <a:srgbClr val="411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6"/>
          <p:cNvSpPr/>
          <p:nvPr/>
        </p:nvSpPr>
        <p:spPr>
          <a:xfrm>
            <a:off x="963587" y="1775483"/>
            <a:ext cx="1638300" cy="228600"/>
          </a:xfrm>
          <a:prstGeom prst="roundRect">
            <a:avLst>
              <a:gd name="adj" fmla="val 50000"/>
            </a:avLst>
          </a:prstGeom>
          <a:solidFill>
            <a:srgbClr val="37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8141" y="1762125"/>
            <a:ext cx="209550" cy="2095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" y="5410200"/>
            <a:ext cx="85725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" y="5600700"/>
            <a:ext cx="85725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" y="5791200"/>
            <a:ext cx="85725" cy="1143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3925" y="2209800"/>
            <a:ext cx="5319414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Space Grotesk"/>
              </a:rPr>
              <a:t>The 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052" y="2792685"/>
            <a:ext cx="414813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Beginners and CS students struggle because study resources are scattered, messy, and hard to follow.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5850" y="5391150"/>
            <a:ext cx="4661296" cy="15240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7171"/>
                </a:solidFill>
                <a:latin typeface="JetBrains Mono"/>
              </a:rPr>
              <a:t>Unformatted code blocks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850" y="5581650"/>
            <a:ext cx="4661296" cy="15240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7171"/>
                </a:solidFill>
                <a:latin typeface="JetBrains Mono"/>
              </a:rPr>
              <a:t>Broken learning links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5850" y="5772150"/>
            <a:ext cx="4661296" cy="15240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7171"/>
                </a:solidFill>
                <a:latin typeface="JetBrains Mono"/>
              </a:rPr>
              <a:t>No sequential order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7887" y="1813583"/>
            <a:ext cx="150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Inter"/>
              </a:rPr>
              <a:t>CURRENT FRICTION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B5086-965E-83E0-A520-F7300D800C84}"/>
              </a:ext>
            </a:extLst>
          </p:cNvPr>
          <p:cNvSpPr txBox="1"/>
          <p:nvPr/>
        </p:nvSpPr>
        <p:spPr>
          <a:xfrm>
            <a:off x="2627882" y="737756"/>
            <a:ext cx="2300310" cy="4385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FFFFFF"/>
                </a:solidFill>
                <a:latin typeface="Space Grotesk"/>
              </a:rPr>
              <a:t>→ The Purpose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1A23-63BD-EEDB-3B1E-798E170C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DC2003D-F7DD-9912-3D3A-B47CEB2D7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67"/>
            <a:ext cx="12192000" cy="6858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A52D58-CD17-17A6-5ED5-B179B8B71754}"/>
              </a:ext>
            </a:extLst>
          </p:cNvPr>
          <p:cNvSpPr/>
          <p:nvPr/>
        </p:nvSpPr>
        <p:spPr>
          <a:xfrm>
            <a:off x="-3581392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5B735C-7AEC-997A-6CBD-C90171A3AD71}"/>
              </a:ext>
            </a:extLst>
          </p:cNvPr>
          <p:cNvSpPr/>
          <p:nvPr/>
        </p:nvSpPr>
        <p:spPr>
          <a:xfrm>
            <a:off x="-7208977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1D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467801-5FC1-77EA-14F2-FE1110F45332}"/>
              </a:ext>
            </a:extLst>
          </p:cNvPr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39A9A-0944-A46D-8D7E-816D2F6E71C4}"/>
              </a:ext>
            </a:extLst>
          </p:cNvPr>
          <p:cNvSpPr txBox="1"/>
          <p:nvPr/>
        </p:nvSpPr>
        <p:spPr>
          <a:xfrm>
            <a:off x="609600" y="457200"/>
            <a:ext cx="445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AUDIENCE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C67012-CA05-FBE7-3812-31E2793F4CA4}"/>
              </a:ext>
            </a:extLst>
          </p:cNvPr>
          <p:cNvSpPr txBox="1"/>
          <p:nvPr/>
        </p:nvSpPr>
        <p:spPr>
          <a:xfrm>
            <a:off x="609600" y="714375"/>
            <a:ext cx="467558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Who Is CodFlow For?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9F5FE-A74B-112D-6FD8-75779CB009DA}"/>
              </a:ext>
            </a:extLst>
          </p:cNvPr>
          <p:cNvSpPr txBox="1"/>
          <p:nvPr/>
        </p:nvSpPr>
        <p:spPr>
          <a:xfrm>
            <a:off x="-3267067" y="4178807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CS Students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70EEB1-C7A1-4A4F-424E-869640133B62}"/>
              </a:ext>
            </a:extLst>
          </p:cNvPr>
          <p:cNvSpPr txBox="1"/>
          <p:nvPr/>
        </p:nvSpPr>
        <p:spPr>
          <a:xfrm>
            <a:off x="-3267067" y="4508998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University students looking for structured study materials to ace exams and coursework.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62B555-77D7-DDA5-2AFF-7F7EDFFFAB29}"/>
              </a:ext>
            </a:extLst>
          </p:cNvPr>
          <p:cNvSpPr txBox="1"/>
          <p:nvPr/>
        </p:nvSpPr>
        <p:spPr>
          <a:xfrm>
            <a:off x="-6894652" y="4178800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Self-Taug</a:t>
            </a:r>
            <a:r>
              <a:rPr lang="en-US" sz="1650" b="1" i="0" u="none" dirty="0">
                <a:solidFill>
                  <a:srgbClr val="FFFFFF"/>
                </a:solidFill>
                <a:latin typeface="Space Grotesk"/>
              </a:rPr>
              <a:t>h</a:t>
            </a:r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t Devs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59D3E4-0900-0A3F-1C6D-B2AF60279848}"/>
              </a:ext>
            </a:extLst>
          </p:cNvPr>
          <p:cNvSpPr txBox="1"/>
          <p:nvPr/>
        </p:nvSpPr>
        <p:spPr>
          <a:xfrm>
            <a:off x="-6894652" y="446666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Independent learners reinforcing programming fundamentals and syntax patterns.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CB65C2-B52C-0CBD-DCA7-4D8D434FDF3B}"/>
              </a:ext>
            </a:extLst>
          </p:cNvPr>
          <p:cNvSpPr txBox="1"/>
          <p:nvPr/>
        </p:nvSpPr>
        <p:spPr>
          <a:xfrm>
            <a:off x="-628642" y="4139637"/>
            <a:ext cx="523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Space Grotesk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31AEC8-BC8E-E752-2D98-EB15EC5A2CE2}"/>
              </a:ext>
            </a:extLst>
          </p:cNvPr>
          <p:cNvSpPr txBox="1"/>
          <p:nvPr/>
        </p:nvSpPr>
        <p:spPr>
          <a:xfrm>
            <a:off x="-4256227" y="4156572"/>
            <a:ext cx="523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Space Grotesk"/>
              </a:rPr>
              <a:t>03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8C6D94B8-6413-851D-6739-F9DAA19EC5B4}"/>
              </a:ext>
            </a:extLst>
          </p:cNvPr>
          <p:cNvSpPr/>
          <p:nvPr/>
        </p:nvSpPr>
        <p:spPr>
          <a:xfrm>
            <a:off x="-3577741" y="2033694"/>
            <a:ext cx="3494373" cy="1854021"/>
          </a:xfrm>
          <a:prstGeom prst="round2SameRect">
            <a:avLst>
              <a:gd name="adj1" fmla="val 11644"/>
              <a:gd name="adj2" fmla="val 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EACF2C32-CBF6-0D30-38C4-D766F63C1333}"/>
              </a:ext>
            </a:extLst>
          </p:cNvPr>
          <p:cNvSpPr/>
          <p:nvPr/>
        </p:nvSpPr>
        <p:spPr>
          <a:xfrm>
            <a:off x="-7196911" y="2033696"/>
            <a:ext cx="3493134" cy="1854021"/>
          </a:xfrm>
          <a:prstGeom prst="round2SameRect">
            <a:avLst>
              <a:gd name="adj1" fmla="val 11644"/>
              <a:gd name="adj2" fmla="val 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6B8AC212-F9C0-757F-6750-510FBB2EB899}"/>
              </a:ext>
            </a:extLst>
          </p:cNvPr>
          <p:cNvSpPr/>
          <p:nvPr/>
        </p:nvSpPr>
        <p:spPr>
          <a:xfrm>
            <a:off x="609600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12D98-F130-4966-6680-F039E2D44CEF}"/>
              </a:ext>
            </a:extLst>
          </p:cNvPr>
          <p:cNvSpPr txBox="1"/>
          <p:nvPr/>
        </p:nvSpPr>
        <p:spPr>
          <a:xfrm>
            <a:off x="923925" y="4218712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First-Time Learners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FD0F4-99E4-AFF5-1D0E-828246252885}"/>
              </a:ext>
            </a:extLst>
          </p:cNvPr>
          <p:cNvSpPr txBox="1"/>
          <p:nvPr/>
        </p:nvSpPr>
        <p:spPr>
          <a:xfrm>
            <a:off x="923925" y="455858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Beginners taking their first steps into coding with simple, non-intimidating lessons.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E9587-3565-7D12-9449-D80B9BB6827B}"/>
              </a:ext>
            </a:extLst>
          </p:cNvPr>
          <p:cNvSpPr txBox="1"/>
          <p:nvPr/>
        </p:nvSpPr>
        <p:spPr>
          <a:xfrm>
            <a:off x="3590925" y="4237604"/>
            <a:ext cx="495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8BDF8"/>
                </a:solidFill>
                <a:latin typeface="Space Grotesk"/>
              </a:rPr>
              <a:t>01</a:t>
            </a: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B57C477C-4073-9AC0-342A-7CDC6CED6A40}"/>
              </a:ext>
            </a:extLst>
          </p:cNvPr>
          <p:cNvSpPr/>
          <p:nvPr/>
        </p:nvSpPr>
        <p:spPr>
          <a:xfrm>
            <a:off x="616194" y="2038692"/>
            <a:ext cx="3494373" cy="1854021"/>
          </a:xfrm>
          <a:prstGeom prst="round2SameRect">
            <a:avLst>
              <a:gd name="adj1" fmla="val 12329"/>
              <a:gd name="adj2" fmla="val 0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019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AEA7-0D1E-A6A6-DB22-3B81B983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4F8DADB-BF70-5C3A-BFF8-47F5DC3E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67"/>
            <a:ext cx="12192000" cy="6858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7CCE69-2BB1-758F-B238-4107D20337D4}"/>
              </a:ext>
            </a:extLst>
          </p:cNvPr>
          <p:cNvSpPr/>
          <p:nvPr/>
        </p:nvSpPr>
        <p:spPr>
          <a:xfrm>
            <a:off x="4343400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0A8D2D-0A76-E461-E17D-245EA4661A44}"/>
              </a:ext>
            </a:extLst>
          </p:cNvPr>
          <p:cNvSpPr/>
          <p:nvPr/>
        </p:nvSpPr>
        <p:spPr>
          <a:xfrm>
            <a:off x="-3646701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1D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7ACD6-F401-5D84-FFBC-D327CDE3C0DF}"/>
              </a:ext>
            </a:extLst>
          </p:cNvPr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9246BC-3B6B-1A2F-B31C-19FD5393701C}"/>
              </a:ext>
            </a:extLst>
          </p:cNvPr>
          <p:cNvSpPr txBox="1"/>
          <p:nvPr/>
        </p:nvSpPr>
        <p:spPr>
          <a:xfrm>
            <a:off x="609600" y="457200"/>
            <a:ext cx="445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AUDIENCE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9621FA-FAC6-B562-291E-8C15629A13A2}"/>
              </a:ext>
            </a:extLst>
          </p:cNvPr>
          <p:cNvSpPr txBox="1"/>
          <p:nvPr/>
        </p:nvSpPr>
        <p:spPr>
          <a:xfrm>
            <a:off x="609600" y="714375"/>
            <a:ext cx="467558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Who Is CodFlow For?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2753A-BAF4-B41F-9040-2B41F7080C4E}"/>
              </a:ext>
            </a:extLst>
          </p:cNvPr>
          <p:cNvSpPr txBox="1"/>
          <p:nvPr/>
        </p:nvSpPr>
        <p:spPr>
          <a:xfrm>
            <a:off x="4657725" y="4178807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CS Students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52C604-5D0D-4CDA-17F0-72909B060881}"/>
              </a:ext>
            </a:extLst>
          </p:cNvPr>
          <p:cNvSpPr txBox="1"/>
          <p:nvPr/>
        </p:nvSpPr>
        <p:spPr>
          <a:xfrm>
            <a:off x="4657725" y="4508998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University students looking for structured study materials to ace exams and coursework.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687E9C-18A7-46DE-5C08-B7D98AF49C43}"/>
              </a:ext>
            </a:extLst>
          </p:cNvPr>
          <p:cNvSpPr txBox="1"/>
          <p:nvPr/>
        </p:nvSpPr>
        <p:spPr>
          <a:xfrm>
            <a:off x="-3332376" y="4178800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Self-Taug</a:t>
            </a:r>
            <a:r>
              <a:rPr lang="en-US" sz="1650" b="1" i="0" u="none" dirty="0">
                <a:solidFill>
                  <a:srgbClr val="FFFFFF"/>
                </a:solidFill>
                <a:latin typeface="Space Grotesk"/>
              </a:rPr>
              <a:t>h</a:t>
            </a:r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t Devs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AFB713-2D63-DE78-ABAA-972D4AAA7C66}"/>
              </a:ext>
            </a:extLst>
          </p:cNvPr>
          <p:cNvSpPr txBox="1"/>
          <p:nvPr/>
        </p:nvSpPr>
        <p:spPr>
          <a:xfrm>
            <a:off x="-3332376" y="446666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Independent learners reinforcing programming fundamentals and syntax patterns.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46C67C-282F-AB39-AF59-EE291845F4A0}"/>
              </a:ext>
            </a:extLst>
          </p:cNvPr>
          <p:cNvSpPr txBox="1"/>
          <p:nvPr/>
        </p:nvSpPr>
        <p:spPr>
          <a:xfrm>
            <a:off x="7296150" y="4139637"/>
            <a:ext cx="523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Space Grotesk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AE9E87-EAAA-C925-E01C-EF6E23F0E529}"/>
              </a:ext>
            </a:extLst>
          </p:cNvPr>
          <p:cNvSpPr txBox="1"/>
          <p:nvPr/>
        </p:nvSpPr>
        <p:spPr>
          <a:xfrm>
            <a:off x="-693951" y="4156572"/>
            <a:ext cx="523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Space Grotesk"/>
              </a:rPr>
              <a:t>03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6BFD6EA5-5B4D-A931-57C2-6B1A7F4E8DE9}"/>
              </a:ext>
            </a:extLst>
          </p:cNvPr>
          <p:cNvSpPr/>
          <p:nvPr/>
        </p:nvSpPr>
        <p:spPr>
          <a:xfrm>
            <a:off x="4347051" y="2033694"/>
            <a:ext cx="3494373" cy="1854021"/>
          </a:xfrm>
          <a:prstGeom prst="round2SameRect">
            <a:avLst>
              <a:gd name="adj1" fmla="val 11644"/>
              <a:gd name="adj2" fmla="val 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E2407C21-F12A-E66F-9EB5-5CF5427D185A}"/>
              </a:ext>
            </a:extLst>
          </p:cNvPr>
          <p:cNvSpPr/>
          <p:nvPr/>
        </p:nvSpPr>
        <p:spPr>
          <a:xfrm>
            <a:off x="-3634635" y="2033696"/>
            <a:ext cx="3493134" cy="1854021"/>
          </a:xfrm>
          <a:prstGeom prst="round2SameRect">
            <a:avLst>
              <a:gd name="adj1" fmla="val 11644"/>
              <a:gd name="adj2" fmla="val 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53E3EBB8-6428-0910-AB75-4D43D537C1F0}"/>
              </a:ext>
            </a:extLst>
          </p:cNvPr>
          <p:cNvSpPr/>
          <p:nvPr/>
        </p:nvSpPr>
        <p:spPr>
          <a:xfrm>
            <a:off x="609600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9335F-4994-9146-CD20-D2D3002584F2}"/>
              </a:ext>
            </a:extLst>
          </p:cNvPr>
          <p:cNvSpPr txBox="1"/>
          <p:nvPr/>
        </p:nvSpPr>
        <p:spPr>
          <a:xfrm>
            <a:off x="923925" y="4218712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First-Time Learners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BE9C0-8026-5F49-C754-744DBF288E38}"/>
              </a:ext>
            </a:extLst>
          </p:cNvPr>
          <p:cNvSpPr txBox="1"/>
          <p:nvPr/>
        </p:nvSpPr>
        <p:spPr>
          <a:xfrm>
            <a:off x="923925" y="455858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Beginners taking their first steps into coding with simple, non-intimidating lessons.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16FDBE-E43B-4E81-DBED-5BD5D27B6B63}"/>
              </a:ext>
            </a:extLst>
          </p:cNvPr>
          <p:cNvSpPr txBox="1"/>
          <p:nvPr/>
        </p:nvSpPr>
        <p:spPr>
          <a:xfrm>
            <a:off x="3590925" y="4237604"/>
            <a:ext cx="495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8BDF8"/>
                </a:solidFill>
                <a:latin typeface="Space Grotesk"/>
              </a:rPr>
              <a:t>01</a:t>
            </a: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1C05D8A5-2709-5EBB-2255-D1B2A8236620}"/>
              </a:ext>
            </a:extLst>
          </p:cNvPr>
          <p:cNvSpPr/>
          <p:nvPr/>
        </p:nvSpPr>
        <p:spPr>
          <a:xfrm>
            <a:off x="616194" y="2038692"/>
            <a:ext cx="3494373" cy="1854021"/>
          </a:xfrm>
          <a:prstGeom prst="round2SameRect">
            <a:avLst>
              <a:gd name="adj1" fmla="val 12329"/>
              <a:gd name="adj2" fmla="val 0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68BD-B0C0-3A7F-7B57-613F10FB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C752182-F44A-42E8-47E7-B027A0A5A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67"/>
            <a:ext cx="12192000" cy="6858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E12CEA3-9DDA-DEFD-C8C1-354FFE03300F}"/>
              </a:ext>
            </a:extLst>
          </p:cNvPr>
          <p:cNvSpPr/>
          <p:nvPr/>
        </p:nvSpPr>
        <p:spPr>
          <a:xfrm>
            <a:off x="4343400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477977-D8F5-16C5-D6FD-72901D30A13E}"/>
              </a:ext>
            </a:extLst>
          </p:cNvPr>
          <p:cNvSpPr/>
          <p:nvPr/>
        </p:nvSpPr>
        <p:spPr>
          <a:xfrm>
            <a:off x="8077200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1D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1FBD57-63A1-BA36-4928-3074D2121A64}"/>
              </a:ext>
            </a:extLst>
          </p:cNvPr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D105EF-DE92-A119-90CA-827FAF11C6D2}"/>
              </a:ext>
            </a:extLst>
          </p:cNvPr>
          <p:cNvSpPr txBox="1"/>
          <p:nvPr/>
        </p:nvSpPr>
        <p:spPr>
          <a:xfrm>
            <a:off x="609600" y="457200"/>
            <a:ext cx="445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AUDIENCE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7791A7-C434-CE5B-5B6B-331A4FCE9A96}"/>
              </a:ext>
            </a:extLst>
          </p:cNvPr>
          <p:cNvSpPr txBox="1"/>
          <p:nvPr/>
        </p:nvSpPr>
        <p:spPr>
          <a:xfrm>
            <a:off x="609600" y="714375"/>
            <a:ext cx="4675584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Who Is CodFlow For?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6CC3C0-4D01-5DD8-04F9-C1A57423C4B3}"/>
              </a:ext>
            </a:extLst>
          </p:cNvPr>
          <p:cNvSpPr txBox="1"/>
          <p:nvPr/>
        </p:nvSpPr>
        <p:spPr>
          <a:xfrm>
            <a:off x="4657725" y="4178807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CS Students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2E1E49-F7D3-CEC6-BED0-0ED40E70E9A9}"/>
              </a:ext>
            </a:extLst>
          </p:cNvPr>
          <p:cNvSpPr txBox="1"/>
          <p:nvPr/>
        </p:nvSpPr>
        <p:spPr>
          <a:xfrm>
            <a:off x="4657725" y="4508998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University students looking for structured study materials to ace exams and coursework.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D75C1-D165-E3E1-E0F9-89F0BA9CC989}"/>
              </a:ext>
            </a:extLst>
          </p:cNvPr>
          <p:cNvSpPr txBox="1"/>
          <p:nvPr/>
        </p:nvSpPr>
        <p:spPr>
          <a:xfrm>
            <a:off x="8391525" y="4178800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Self-Taug</a:t>
            </a:r>
            <a:r>
              <a:rPr lang="en-US" sz="1650" b="1" i="0" u="none" dirty="0">
                <a:solidFill>
                  <a:srgbClr val="FFFFFF"/>
                </a:solidFill>
                <a:latin typeface="Space Grotesk"/>
              </a:rPr>
              <a:t>h</a:t>
            </a:r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t Devs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963E3-6D00-332E-9515-501509AE8E18}"/>
              </a:ext>
            </a:extLst>
          </p:cNvPr>
          <p:cNvSpPr txBox="1"/>
          <p:nvPr/>
        </p:nvSpPr>
        <p:spPr>
          <a:xfrm>
            <a:off x="8391525" y="446666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Independent learners reinforcing programming fundamentals and syntax patterns.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363553-1097-606A-03F2-2BD430719706}"/>
              </a:ext>
            </a:extLst>
          </p:cNvPr>
          <p:cNvSpPr txBox="1"/>
          <p:nvPr/>
        </p:nvSpPr>
        <p:spPr>
          <a:xfrm>
            <a:off x="7296150" y="4139637"/>
            <a:ext cx="523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Space Grotesk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1453F8-0E38-A9CC-FB06-8272F9C7AFF4}"/>
              </a:ext>
            </a:extLst>
          </p:cNvPr>
          <p:cNvSpPr txBox="1"/>
          <p:nvPr/>
        </p:nvSpPr>
        <p:spPr>
          <a:xfrm>
            <a:off x="11029950" y="4156572"/>
            <a:ext cx="523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Space Grotesk"/>
              </a:rPr>
              <a:t>03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8A7299EC-5A6C-17D0-56E3-1DBCA8E813C3}"/>
              </a:ext>
            </a:extLst>
          </p:cNvPr>
          <p:cNvSpPr/>
          <p:nvPr/>
        </p:nvSpPr>
        <p:spPr>
          <a:xfrm>
            <a:off x="4347051" y="2033694"/>
            <a:ext cx="3494373" cy="1854021"/>
          </a:xfrm>
          <a:prstGeom prst="round2SameRect">
            <a:avLst>
              <a:gd name="adj1" fmla="val 11644"/>
              <a:gd name="adj2" fmla="val 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1CF5ECFE-463D-CD48-B3D6-8FD74E7ECBA2}"/>
              </a:ext>
            </a:extLst>
          </p:cNvPr>
          <p:cNvSpPr/>
          <p:nvPr/>
        </p:nvSpPr>
        <p:spPr>
          <a:xfrm>
            <a:off x="8089266" y="2033696"/>
            <a:ext cx="3493134" cy="1854021"/>
          </a:xfrm>
          <a:prstGeom prst="round2SameRect">
            <a:avLst>
              <a:gd name="adj1" fmla="val 11644"/>
              <a:gd name="adj2" fmla="val 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CAE7339F-5B82-20B6-CED0-3AF9332805EF}"/>
              </a:ext>
            </a:extLst>
          </p:cNvPr>
          <p:cNvSpPr/>
          <p:nvPr/>
        </p:nvSpPr>
        <p:spPr>
          <a:xfrm>
            <a:off x="609600" y="2035630"/>
            <a:ext cx="3505200" cy="3493103"/>
          </a:xfrm>
          <a:prstGeom prst="roundRect">
            <a:avLst>
              <a:gd name="adj" fmla="val 6164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87B664-759B-A0A9-C976-3451ED6CFC42}"/>
              </a:ext>
            </a:extLst>
          </p:cNvPr>
          <p:cNvSpPr txBox="1"/>
          <p:nvPr/>
        </p:nvSpPr>
        <p:spPr>
          <a:xfrm>
            <a:off x="923925" y="4218712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First-Time Learners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F67C7-C58A-A5BE-C3AD-764E7BAF9339}"/>
              </a:ext>
            </a:extLst>
          </p:cNvPr>
          <p:cNvSpPr txBox="1"/>
          <p:nvPr/>
        </p:nvSpPr>
        <p:spPr>
          <a:xfrm>
            <a:off x="923925" y="455858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Beginners taking their first steps into coding with simple, non-intimidating lessons.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6AF75-3D63-ED5E-E342-D44683D7394B}"/>
              </a:ext>
            </a:extLst>
          </p:cNvPr>
          <p:cNvSpPr txBox="1"/>
          <p:nvPr/>
        </p:nvSpPr>
        <p:spPr>
          <a:xfrm>
            <a:off x="3590925" y="4237604"/>
            <a:ext cx="495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8BDF8"/>
                </a:solidFill>
                <a:latin typeface="Space Grotesk"/>
              </a:rPr>
              <a:t>01</a:t>
            </a: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CB68B330-EF37-E7B5-625C-4E3962063EC6}"/>
              </a:ext>
            </a:extLst>
          </p:cNvPr>
          <p:cNvSpPr/>
          <p:nvPr/>
        </p:nvSpPr>
        <p:spPr>
          <a:xfrm>
            <a:off x="616194" y="2038692"/>
            <a:ext cx="3494373" cy="1854021"/>
          </a:xfrm>
          <a:prstGeom prst="round2SameRect">
            <a:avLst>
              <a:gd name="adj1" fmla="val 12329"/>
              <a:gd name="adj2" fmla="val 0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C8F1-3D39-F2D3-EE26-96A817ED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E8FC39F-164B-020B-1CF0-A259B2CFA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1EB171-4AA5-A4A8-EB32-E8495CD0CD1B}"/>
              </a:ext>
            </a:extLst>
          </p:cNvPr>
          <p:cNvSpPr/>
          <p:nvPr/>
        </p:nvSpPr>
        <p:spPr>
          <a:xfrm>
            <a:off x="5505450" y="2330053"/>
            <a:ext cx="6076950" cy="3217068"/>
          </a:xfrm>
          <a:prstGeom prst="roundRect">
            <a:avLst>
              <a:gd name="adj" fmla="val 4737"/>
            </a:avLst>
          </a:prstGeom>
          <a:solidFill>
            <a:srgbClr val="0F172A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96F5AF-EFA5-19CA-EF3A-470B0EDB7C06}"/>
              </a:ext>
            </a:extLst>
          </p:cNvPr>
          <p:cNvSpPr/>
          <p:nvPr/>
        </p:nvSpPr>
        <p:spPr>
          <a:xfrm>
            <a:off x="609600" y="2282255"/>
            <a:ext cx="4667250" cy="1004887"/>
          </a:xfrm>
          <a:prstGeom prst="roundRect">
            <a:avLst>
              <a:gd name="adj" fmla="val 13270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8FE811-7449-B02C-7DAD-BEE29D212FDD}"/>
              </a:ext>
            </a:extLst>
          </p:cNvPr>
          <p:cNvSpPr/>
          <p:nvPr/>
        </p:nvSpPr>
        <p:spPr>
          <a:xfrm>
            <a:off x="609600" y="2274776"/>
            <a:ext cx="4667250" cy="1004887"/>
          </a:xfrm>
          <a:prstGeom prst="roundRect">
            <a:avLst>
              <a:gd name="adj" fmla="val 13270"/>
            </a:avLst>
          </a:prstGeom>
          <a:solidFill>
            <a:srgbClr val="0F172A"/>
          </a:solidFill>
          <a:ln w="9525">
            <a:solidFill>
              <a:srgbClr val="1D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1789DC3-4959-03E3-EF96-1E995005AE99}"/>
              </a:ext>
            </a:extLst>
          </p:cNvPr>
          <p:cNvSpPr/>
          <p:nvPr/>
        </p:nvSpPr>
        <p:spPr>
          <a:xfrm>
            <a:off x="5743575" y="3015853"/>
            <a:ext cx="5600700" cy="2293143"/>
          </a:xfrm>
          <a:prstGeom prst="roundRect">
            <a:avLst>
              <a:gd name="adj" fmla="val 3322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FE9520-47A0-8AA2-F8F5-83A58E13D87C}"/>
              </a:ext>
            </a:extLst>
          </p:cNvPr>
          <p:cNvSpPr/>
          <p:nvPr/>
        </p:nvSpPr>
        <p:spPr>
          <a:xfrm>
            <a:off x="10801350" y="2568178"/>
            <a:ext cx="542925" cy="171450"/>
          </a:xfrm>
          <a:prstGeom prst="roundRect">
            <a:avLst>
              <a:gd name="adj" fmla="val 22222"/>
            </a:avLst>
          </a:prstGeom>
          <a:solidFill>
            <a:srgbClr val="0F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95188B-9DEF-BE4B-B14C-DFD451B38434}"/>
              </a:ext>
            </a:extLst>
          </p:cNvPr>
          <p:cNvSpPr/>
          <p:nvPr/>
        </p:nvSpPr>
        <p:spPr>
          <a:xfrm>
            <a:off x="5934075" y="4720381"/>
            <a:ext cx="5219700" cy="398115"/>
          </a:xfrm>
          <a:prstGeom prst="roundRect">
            <a:avLst>
              <a:gd name="adj" fmla="val 14355"/>
            </a:avLst>
          </a:prstGeom>
          <a:solidFill>
            <a:srgbClr val="10202F"/>
          </a:solidFill>
          <a:ln w="9525">
            <a:solidFill>
              <a:srgbClr val="194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F41226-16E7-A55D-139E-CEE320FBF193}"/>
              </a:ext>
            </a:extLst>
          </p:cNvPr>
          <p:cNvSpPr/>
          <p:nvPr/>
        </p:nvSpPr>
        <p:spPr>
          <a:xfrm>
            <a:off x="10410825" y="4806106"/>
            <a:ext cx="619125" cy="226665"/>
          </a:xfrm>
          <a:prstGeom prst="roundRect">
            <a:avLst>
              <a:gd name="adj" fmla="val 16808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F6D50E24-2B42-6381-D36D-56F069C31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5" y="2577703"/>
            <a:ext cx="190500" cy="152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1E152B-96EC-B70D-29C5-14AE98CE57C3}"/>
              </a:ext>
            </a:extLst>
          </p:cNvPr>
          <p:cNvSpPr txBox="1"/>
          <p:nvPr/>
        </p:nvSpPr>
        <p:spPr>
          <a:xfrm>
            <a:off x="10991850" y="457200"/>
            <a:ext cx="8763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DE77C6-6163-062F-A9FF-95E7A9053E88}"/>
              </a:ext>
            </a:extLst>
          </p:cNvPr>
          <p:cNvSpPr txBox="1"/>
          <p:nvPr/>
        </p:nvSpPr>
        <p:spPr>
          <a:xfrm>
            <a:off x="609600" y="457200"/>
            <a:ext cx="2690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716E46-1C00-84E8-ACF1-8B2A51753F82}"/>
              </a:ext>
            </a:extLst>
          </p:cNvPr>
          <p:cNvSpPr txBox="1"/>
          <p:nvPr/>
        </p:nvSpPr>
        <p:spPr>
          <a:xfrm>
            <a:off x="609600" y="714375"/>
            <a:ext cx="28253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FFFFFF"/>
                </a:solidFill>
                <a:latin typeface="Space Grotesk"/>
              </a:rPr>
              <a:t>Our 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1DBB8-EF02-0652-4940-67D37FF6675D}"/>
              </a:ext>
            </a:extLst>
          </p:cNvPr>
          <p:cNvSpPr txBox="1"/>
          <p:nvPr/>
        </p:nvSpPr>
        <p:spPr>
          <a:xfrm>
            <a:off x="847725" y="2834705"/>
            <a:ext cx="523875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Clear formatting that makes code blocks effortless to read.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0FF53D-AA0F-D52C-3695-9C7B24B1C001}"/>
              </a:ext>
            </a:extLst>
          </p:cNvPr>
          <p:cNvSpPr txBox="1"/>
          <p:nvPr/>
        </p:nvSpPr>
        <p:spPr>
          <a:xfrm>
            <a:off x="847725" y="2827226"/>
            <a:ext cx="523875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One-click code copying and streamlined navigation menus.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1EEA51-18AD-FF35-D98E-4613F4739511}"/>
              </a:ext>
            </a:extLst>
          </p:cNvPr>
          <p:cNvSpPr txBox="1"/>
          <p:nvPr/>
        </p:nvSpPr>
        <p:spPr>
          <a:xfrm>
            <a:off x="10877550" y="2587228"/>
            <a:ext cx="4857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4D399"/>
                </a:solidFill>
                <a:latin typeface="Inter"/>
              </a:rPr>
              <a:t>ACTIVE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63525F-D952-7339-BEA4-F64ADABBFACE}"/>
              </a:ext>
            </a:extLst>
          </p:cNvPr>
          <p:cNvSpPr txBox="1"/>
          <p:nvPr/>
        </p:nvSpPr>
        <p:spPr>
          <a:xfrm>
            <a:off x="5934075" y="3206353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// 1. Structured Path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DF776A-D435-9B77-6FA4-D6CCDB29D8C3}"/>
              </a:ext>
            </a:extLst>
          </p:cNvPr>
          <p:cNvSpPr txBox="1"/>
          <p:nvPr/>
        </p:nvSpPr>
        <p:spPr>
          <a:xfrm>
            <a:off x="5934075" y="3486298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F43F5E"/>
                </a:solidFill>
                <a:latin typeface="JetBrains Mono"/>
              </a:rPr>
              <a:t>import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{ JavaScript, React, Python } </a:t>
            </a:r>
            <a:r>
              <a:rPr sz="975" b="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</a:t>
            </a:r>
            <a:r>
              <a:rPr sz="975" b="0" i="0" u="none">
                <a:solidFill>
                  <a:srgbClr val="4ADE80"/>
                </a:solidFill>
                <a:latin typeface="JetBrains Mono"/>
              </a:rPr>
              <a:t>'@codflow/lessons'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BA3C6F-F3BF-73EA-A4EE-6C08DDC42C1B}"/>
              </a:ext>
            </a:extLst>
          </p:cNvPr>
          <p:cNvSpPr txBox="1"/>
          <p:nvPr/>
        </p:nvSpPr>
        <p:spPr>
          <a:xfrm>
            <a:off x="5934075" y="3823394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22D3EE"/>
                </a:solidFill>
                <a:latin typeface="JetBrains Mono"/>
              </a:rPr>
              <a:t>// 2. Syntax Highlighted Block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C36FF5-F253-864A-8D5C-57FB6A3C42ED}"/>
              </a:ext>
            </a:extLst>
          </p:cNvPr>
          <p:cNvSpPr txBox="1"/>
          <p:nvPr/>
        </p:nvSpPr>
        <p:spPr>
          <a:xfrm>
            <a:off x="5934075" y="4103340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F59E0B"/>
                </a:solidFill>
                <a:latin typeface="JetBrains Mono"/>
              </a:rPr>
              <a:t>function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</a:t>
            </a:r>
            <a:r>
              <a:rPr sz="975" b="0" i="0" u="none">
                <a:solidFill>
                  <a:srgbClr val="38BDF8"/>
                </a:solidFill>
                <a:latin typeface="JetBrains Mono"/>
              </a:rPr>
              <a:t>renderLesson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() { </a:t>
            </a:r>
            <a:r>
              <a:rPr sz="975" b="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&lt;</a:t>
            </a:r>
            <a:r>
              <a:rPr sz="975" b="0" i="0" u="none">
                <a:solidFill>
                  <a:srgbClr val="38BDF8"/>
                </a:solidFill>
                <a:latin typeface="JetBrains Mono"/>
              </a:rPr>
              <a:t>CodeViewer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copyable={</a:t>
            </a:r>
            <a:r>
              <a:rPr sz="975" b="0" i="0" u="none">
                <a:solidFill>
                  <a:srgbClr val="22D3EE"/>
                </a:solidFill>
                <a:latin typeface="JetBrains Mono"/>
              </a:rPr>
              <a:t>true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} /&gt;;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3E4A1A-DBE2-1A4D-0EBC-8B631BEAC968}"/>
              </a:ext>
            </a:extLst>
          </p:cNvPr>
          <p:cNvSpPr txBox="1"/>
          <p:nvPr/>
        </p:nvSpPr>
        <p:spPr>
          <a:xfrm>
            <a:off x="5934075" y="4440435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818CF8"/>
                </a:solidFill>
                <a:latin typeface="JetBrains Mono"/>
              </a:rPr>
              <a:t>// 3. Interactive Utility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D4AECD-63E6-BCC3-B26F-0E2B0C1CB293}"/>
              </a:ext>
            </a:extLst>
          </p:cNvPr>
          <p:cNvSpPr txBox="1"/>
          <p:nvPr/>
        </p:nvSpPr>
        <p:spPr>
          <a:xfrm>
            <a:off x="847725" y="2548955"/>
            <a:ext cx="457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D3EE"/>
                </a:solidFill>
                <a:latin typeface="Inter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D21074-FC67-03E3-67CE-4624C686150D}"/>
              </a:ext>
            </a:extLst>
          </p:cNvPr>
          <p:cNvSpPr txBox="1"/>
          <p:nvPr/>
        </p:nvSpPr>
        <p:spPr>
          <a:xfrm>
            <a:off x="1114425" y="2520380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Clean Syntax Highlighting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8274FB-364E-80A3-7FBD-EEB4232F904D}"/>
              </a:ext>
            </a:extLst>
          </p:cNvPr>
          <p:cNvSpPr txBox="1"/>
          <p:nvPr/>
        </p:nvSpPr>
        <p:spPr>
          <a:xfrm>
            <a:off x="847725" y="2541476"/>
            <a:ext cx="457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18CF8"/>
                </a:solidFill>
                <a:latin typeface="Inter"/>
              </a:rPr>
              <a:t>03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663B6C-557C-1589-2294-E0F29F12D684}"/>
              </a:ext>
            </a:extLst>
          </p:cNvPr>
          <p:cNvSpPr txBox="1"/>
          <p:nvPr/>
        </p:nvSpPr>
        <p:spPr>
          <a:xfrm>
            <a:off x="1114425" y="2512901"/>
            <a:ext cx="21752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Interactive Features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BF1D06-18FC-7BE9-5FA5-32725860357A}"/>
              </a:ext>
            </a:extLst>
          </p:cNvPr>
          <p:cNvSpPr txBox="1"/>
          <p:nvPr/>
        </p:nvSpPr>
        <p:spPr>
          <a:xfrm>
            <a:off x="6010275" y="2572940"/>
            <a:ext cx="2190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JetBrains Mono"/>
              </a:rPr>
              <a:t>CodFlow Platform Engine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27740D-8723-63AA-178F-1DACEE5DF290}"/>
              </a:ext>
            </a:extLst>
          </p:cNvPr>
          <p:cNvSpPr txBox="1"/>
          <p:nvPr/>
        </p:nvSpPr>
        <p:spPr>
          <a:xfrm>
            <a:off x="6057900" y="4816524"/>
            <a:ext cx="3000375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0" i="0" u="none">
                <a:solidFill>
                  <a:srgbClr val="CBD5E1"/>
                </a:solidFill>
                <a:latin typeface="JetBrains Mono"/>
              </a:rPr>
              <a:t>navigator.clipboard.writeText(code);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D99336-6502-2592-B716-988BDFA90FAB}"/>
              </a:ext>
            </a:extLst>
          </p:cNvPr>
          <p:cNvSpPr txBox="1"/>
          <p:nvPr/>
        </p:nvSpPr>
        <p:spPr>
          <a:xfrm>
            <a:off x="10487025" y="4825156"/>
            <a:ext cx="752475" cy="188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825" b="1" i="0" u="none">
                <a:solidFill>
                  <a:srgbClr val="0B0F19"/>
                </a:solidFill>
                <a:latin typeface="JetBrains Mono"/>
              </a:rPr>
              <a:t>COPIED!</a:t>
            </a:r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818D4B66-2B9E-D46B-F69F-4D9A38C56F82}"/>
              </a:ext>
            </a:extLst>
          </p:cNvPr>
          <p:cNvSpPr/>
          <p:nvPr/>
        </p:nvSpPr>
        <p:spPr>
          <a:xfrm>
            <a:off x="609600" y="2278856"/>
            <a:ext cx="4667250" cy="1004887"/>
          </a:xfrm>
          <a:prstGeom prst="roundRect">
            <a:avLst>
              <a:gd name="adj" fmla="val 13270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8F7CB3-82DC-165E-13BB-2420367E99BC}"/>
              </a:ext>
            </a:extLst>
          </p:cNvPr>
          <p:cNvSpPr txBox="1"/>
          <p:nvPr/>
        </p:nvSpPr>
        <p:spPr>
          <a:xfrm>
            <a:off x="847725" y="2831306"/>
            <a:ext cx="523875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Categorized learning paths by language and difficulty level.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07C7DF-5A3F-E696-904B-120B1515F8E2}"/>
              </a:ext>
            </a:extLst>
          </p:cNvPr>
          <p:cNvSpPr txBox="1"/>
          <p:nvPr/>
        </p:nvSpPr>
        <p:spPr>
          <a:xfrm>
            <a:off x="847725" y="2545556"/>
            <a:ext cx="428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08B0E2-3D72-437E-09EB-EC8286060A22}"/>
              </a:ext>
            </a:extLst>
          </p:cNvPr>
          <p:cNvSpPr txBox="1"/>
          <p:nvPr/>
        </p:nvSpPr>
        <p:spPr>
          <a:xfrm>
            <a:off x="1085850" y="2516981"/>
            <a:ext cx="25753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Structured Lesson Lists</a:t>
            </a:r>
          </a:p>
        </p:txBody>
      </p:sp>
    </p:spTree>
    <p:extLst>
      <p:ext uri="{BB962C8B-B14F-4D97-AF65-F5344CB8AC3E}">
        <p14:creationId xmlns:p14="http://schemas.microsoft.com/office/powerpoint/2010/main" val="2944716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505450" y="2330053"/>
            <a:ext cx="6076950" cy="3217068"/>
          </a:xfrm>
          <a:prstGeom prst="roundRect">
            <a:avLst>
              <a:gd name="adj" fmla="val 4737"/>
            </a:avLst>
          </a:prstGeom>
          <a:solidFill>
            <a:srgbClr val="0F172A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278856"/>
            <a:ext cx="4667250" cy="1004887"/>
          </a:xfrm>
          <a:prstGeom prst="roundRect">
            <a:avLst>
              <a:gd name="adj" fmla="val 13270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436143"/>
            <a:ext cx="4667250" cy="1004887"/>
          </a:xfrm>
          <a:prstGeom prst="roundRect">
            <a:avLst>
              <a:gd name="adj" fmla="val 13270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593431"/>
            <a:ext cx="4667250" cy="1004887"/>
          </a:xfrm>
          <a:prstGeom prst="roundRect">
            <a:avLst>
              <a:gd name="adj" fmla="val 13270"/>
            </a:avLst>
          </a:prstGeom>
          <a:solidFill>
            <a:srgbClr val="0F172A"/>
          </a:solidFill>
          <a:ln w="9525">
            <a:solidFill>
              <a:srgbClr val="1D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43575" y="3015853"/>
            <a:ext cx="5600700" cy="2293143"/>
          </a:xfrm>
          <a:prstGeom prst="roundRect">
            <a:avLst>
              <a:gd name="adj" fmla="val 3322"/>
            </a:avLst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801350" y="2568178"/>
            <a:ext cx="542925" cy="171450"/>
          </a:xfrm>
          <a:prstGeom prst="roundRect">
            <a:avLst>
              <a:gd name="adj" fmla="val 22222"/>
            </a:avLst>
          </a:prstGeom>
          <a:solidFill>
            <a:srgbClr val="0F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34075" y="4720381"/>
            <a:ext cx="5219700" cy="398115"/>
          </a:xfrm>
          <a:prstGeom prst="roundRect">
            <a:avLst>
              <a:gd name="adj" fmla="val 14355"/>
            </a:avLst>
          </a:prstGeom>
          <a:solidFill>
            <a:srgbClr val="10202F"/>
          </a:solidFill>
          <a:ln w="9525">
            <a:solidFill>
              <a:srgbClr val="194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10825" y="4806106"/>
            <a:ext cx="619125" cy="226665"/>
          </a:xfrm>
          <a:prstGeom prst="roundRect">
            <a:avLst>
              <a:gd name="adj" fmla="val 16808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5" y="2577703"/>
            <a:ext cx="1905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91850" y="457200"/>
            <a:ext cx="8763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2690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28253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FFFFFF"/>
                </a:solidFill>
                <a:latin typeface="Space Grotesk"/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831306"/>
            <a:ext cx="523875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Categorized learning paths by language and difficulty level.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988593"/>
            <a:ext cx="523875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Clear formatting that makes code blocks effortless to read.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145881"/>
            <a:ext cx="523875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One-click code copying and streamlined navigation menus.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77550" y="2587228"/>
            <a:ext cx="4857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4D399"/>
                </a:solidFill>
                <a:latin typeface="Inter"/>
              </a:rPr>
              <a:t>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075" y="3206353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38BDF8"/>
                </a:solidFill>
                <a:latin typeface="JetBrains Mono"/>
              </a:rPr>
              <a:t>// 1. Structured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075" y="3486298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F43F5E"/>
                </a:solidFill>
                <a:latin typeface="JetBrains Mono"/>
              </a:rPr>
              <a:t>import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{ JavaScript, React, Python } </a:t>
            </a:r>
            <a:r>
              <a:rPr sz="975" b="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</a:t>
            </a:r>
            <a:r>
              <a:rPr sz="975" b="0" i="0" u="none">
                <a:solidFill>
                  <a:srgbClr val="4ADE80"/>
                </a:solidFill>
                <a:latin typeface="JetBrains Mono"/>
              </a:rPr>
              <a:t>'@codflow/lessons'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075" y="3823394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22D3EE"/>
                </a:solidFill>
                <a:latin typeface="JetBrains Mono"/>
              </a:rPr>
              <a:t>// 2. Syntax Highlighted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075" y="4103340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F59E0B"/>
                </a:solidFill>
                <a:latin typeface="JetBrains Mono"/>
              </a:rPr>
              <a:t>function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</a:t>
            </a:r>
            <a:r>
              <a:rPr sz="975" b="0" i="0" u="none">
                <a:solidFill>
                  <a:srgbClr val="38BDF8"/>
                </a:solidFill>
                <a:latin typeface="JetBrains Mono"/>
              </a:rPr>
              <a:t>renderLesson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() { </a:t>
            </a:r>
            <a:r>
              <a:rPr sz="975" b="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&lt;</a:t>
            </a:r>
            <a:r>
              <a:rPr sz="975" b="0" i="0" u="none">
                <a:solidFill>
                  <a:srgbClr val="38BDF8"/>
                </a:solidFill>
                <a:latin typeface="JetBrains Mono"/>
              </a:rPr>
              <a:t>CodeViewer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 copyable={</a:t>
            </a:r>
            <a:r>
              <a:rPr sz="975" b="0" i="0" u="none">
                <a:solidFill>
                  <a:srgbClr val="22D3EE"/>
                </a:solidFill>
                <a:latin typeface="JetBrains Mono"/>
              </a:rPr>
              <a:t>true</a:t>
            </a:r>
            <a:r>
              <a:rPr sz="975" b="0" i="0" u="none">
                <a:solidFill>
                  <a:srgbClr val="CBD5E1"/>
                </a:solidFill>
                <a:latin typeface="JetBrains Mono"/>
              </a:rPr>
              <a:t>} /&gt;;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075" y="4440435"/>
            <a:ext cx="62579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0" i="0" u="none">
                <a:solidFill>
                  <a:srgbClr val="818CF8"/>
                </a:solidFill>
                <a:latin typeface="JetBrains Mono"/>
              </a:rPr>
              <a:t>// 3. Interactive Utility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545556"/>
            <a:ext cx="428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" y="2516981"/>
            <a:ext cx="25753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Structured Lesson Lists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702843"/>
            <a:ext cx="457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D3EE"/>
                </a:solidFill>
                <a:latin typeface="Inter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425" y="3674268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Clean Syntax Highlighting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860131"/>
            <a:ext cx="457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18CF8"/>
                </a:solidFill>
                <a:latin typeface="Inter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" y="4831556"/>
            <a:ext cx="21752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Interactive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0275" y="2572940"/>
            <a:ext cx="2190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JetBrains Mono"/>
              </a:rPr>
              <a:t>CodFlow Platform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7900" y="4816524"/>
            <a:ext cx="3000375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0" i="0" u="none">
                <a:solidFill>
                  <a:srgbClr val="CBD5E1"/>
                </a:solidFill>
                <a:latin typeface="JetBrains Mono"/>
              </a:rPr>
              <a:t>navigator.clipboard.writeText(code);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7025" y="4825156"/>
            <a:ext cx="752475" cy="188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825" b="1" i="0" u="none">
                <a:solidFill>
                  <a:srgbClr val="0B0F19"/>
                </a:solidFill>
                <a:latin typeface="JetBrains Mono"/>
              </a:rPr>
              <a:t>COPIED!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6096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679852" y="2505075"/>
            <a:ext cx="4902547" cy="2609850"/>
          </a:xfrm>
          <a:prstGeom prst="roundRect">
            <a:avLst>
              <a:gd name="adj" fmla="val 4379"/>
            </a:avLst>
          </a:prstGeom>
          <a:solidFill>
            <a:srgbClr val="1116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4640" y="2679171"/>
            <a:ext cx="2835175" cy="928687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090" y="4029075"/>
            <a:ext cx="2835175" cy="928687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98927" y="2981325"/>
            <a:ext cx="4464397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98927" y="2979208"/>
            <a:ext cx="28575" cy="419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98927" y="2967990"/>
            <a:ext cx="4464397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98927" y="2967990"/>
            <a:ext cx="28575" cy="419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65" y="3053735"/>
            <a:ext cx="20002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5" y="4351524"/>
            <a:ext cx="257175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189" y="3505200"/>
            <a:ext cx="8572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189" y="3510915"/>
            <a:ext cx="85725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10680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04 — WEBSITE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704850"/>
            <a:ext cx="2348400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Technology 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8927" y="2724150"/>
            <a:ext cx="529307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DEPLOYMENT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178" y="3095625"/>
            <a:ext cx="535189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Git Repository (GitHub)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178" y="3082290"/>
            <a:ext cx="535189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Vercel Automated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940" y="3004725"/>
            <a:ext cx="2000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CSS3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940" y="3262400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Visual styling &amp; page layouts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5540" y="4299034"/>
            <a:ext cx="217527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GitHub &amp;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Vercel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75540" y="4585587"/>
            <a:ext cx="2071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Source repo &amp; live deployment</a:t>
            </a:r>
          </a:p>
        </p:txBody>
      </p:sp>
      <p:sp>
        <p:nvSpPr>
          <p:cNvPr id="6" name="Rounded Rectangle 7"/>
          <p:cNvSpPr/>
          <p:nvPr/>
        </p:nvSpPr>
        <p:spPr>
          <a:xfrm>
            <a:off x="609600" y="4029075"/>
            <a:ext cx="2835026" cy="928687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341897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4299033"/>
            <a:ext cx="149018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47086"/>
            <a:ext cx="1419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Local version control</a:t>
            </a:r>
          </a:p>
        </p:txBody>
      </p:sp>
      <p:sp>
        <p:nvSpPr>
          <p:cNvPr id="34" name="Rounded Rectangle 3"/>
          <p:cNvSpPr/>
          <p:nvPr/>
        </p:nvSpPr>
        <p:spPr>
          <a:xfrm>
            <a:off x="609600" y="2662237"/>
            <a:ext cx="2835026" cy="957263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040277"/>
            <a:ext cx="200025" cy="2667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04900" y="2997414"/>
            <a:ext cx="197524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HTML5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900" y="3255094"/>
            <a:ext cx="1881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Website structure &amp; markup</a:t>
            </a:r>
          </a:p>
        </p:txBody>
      </p:sp>
      <p:sp>
        <p:nvSpPr>
          <p:cNvPr id="42" name="Rounded Rectangle 9"/>
          <p:cNvSpPr/>
          <p:nvPr/>
        </p:nvSpPr>
        <p:spPr>
          <a:xfrm>
            <a:off x="6898927" y="2971800"/>
            <a:ext cx="4464397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55178" y="3086100"/>
            <a:ext cx="535189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Local Code (VS Code)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98927" y="2971800"/>
            <a:ext cx="28575" cy="419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266C0-FF7C-B156-38B9-BC40903F5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A93280-D270-70D6-295C-88D6E1530ADC}"/>
              </a:ext>
            </a:extLst>
          </p:cNvPr>
          <p:cNvSpPr/>
          <p:nvPr/>
        </p:nvSpPr>
        <p:spPr>
          <a:xfrm>
            <a:off x="609600" y="1190625"/>
            <a:ext cx="6096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7CD55F-B24A-3CC1-9770-56AF2BF2E95B}"/>
              </a:ext>
            </a:extLst>
          </p:cNvPr>
          <p:cNvSpPr/>
          <p:nvPr/>
        </p:nvSpPr>
        <p:spPr>
          <a:xfrm>
            <a:off x="6679852" y="2505075"/>
            <a:ext cx="4902547" cy="2609850"/>
          </a:xfrm>
          <a:prstGeom prst="roundRect">
            <a:avLst>
              <a:gd name="adj" fmla="val 4379"/>
            </a:avLst>
          </a:prstGeom>
          <a:solidFill>
            <a:srgbClr val="1116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519933-9184-030B-B03A-372ACCC10859}"/>
              </a:ext>
            </a:extLst>
          </p:cNvPr>
          <p:cNvSpPr/>
          <p:nvPr/>
        </p:nvSpPr>
        <p:spPr>
          <a:xfrm>
            <a:off x="609600" y="2662237"/>
            <a:ext cx="2835026" cy="957263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025822-14E3-4E1A-0553-0F10CFF86D87}"/>
              </a:ext>
            </a:extLst>
          </p:cNvPr>
          <p:cNvSpPr/>
          <p:nvPr/>
        </p:nvSpPr>
        <p:spPr>
          <a:xfrm>
            <a:off x="3577976" y="2662237"/>
            <a:ext cx="2835175" cy="928687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3A7112-EBE6-D4A6-0070-B5F0C1FC8D28}"/>
              </a:ext>
            </a:extLst>
          </p:cNvPr>
          <p:cNvSpPr/>
          <p:nvPr/>
        </p:nvSpPr>
        <p:spPr>
          <a:xfrm>
            <a:off x="609600" y="4029075"/>
            <a:ext cx="2835026" cy="928687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FABBFE-DEAF-B394-1106-F527B4494D72}"/>
              </a:ext>
            </a:extLst>
          </p:cNvPr>
          <p:cNvSpPr/>
          <p:nvPr/>
        </p:nvSpPr>
        <p:spPr>
          <a:xfrm>
            <a:off x="3577976" y="4029075"/>
            <a:ext cx="2835175" cy="928687"/>
          </a:xfrm>
          <a:prstGeom prst="roundRect">
            <a:avLst>
              <a:gd name="adj" fmla="val 14084"/>
            </a:avLst>
          </a:prstGeom>
          <a:solidFill>
            <a:srgbClr val="11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B54984-BC10-E1EA-6302-559DCB74F800}"/>
              </a:ext>
            </a:extLst>
          </p:cNvPr>
          <p:cNvSpPr/>
          <p:nvPr/>
        </p:nvSpPr>
        <p:spPr>
          <a:xfrm>
            <a:off x="6898927" y="2971800"/>
            <a:ext cx="4464397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0E39EC-BD72-8C35-3F0A-0A156B7B73FE}"/>
              </a:ext>
            </a:extLst>
          </p:cNvPr>
          <p:cNvSpPr/>
          <p:nvPr/>
        </p:nvSpPr>
        <p:spPr>
          <a:xfrm>
            <a:off x="6898927" y="2971800"/>
            <a:ext cx="28575" cy="419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E1A5E55-CE4D-C604-CB14-B13BED8BAA82}"/>
              </a:ext>
            </a:extLst>
          </p:cNvPr>
          <p:cNvSpPr/>
          <p:nvPr/>
        </p:nvSpPr>
        <p:spPr>
          <a:xfrm>
            <a:off x="6898927" y="3724275"/>
            <a:ext cx="4464397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1958BF-C3DA-CAFB-C34E-404E9BF1AC0D}"/>
              </a:ext>
            </a:extLst>
          </p:cNvPr>
          <p:cNvSpPr/>
          <p:nvPr/>
        </p:nvSpPr>
        <p:spPr>
          <a:xfrm>
            <a:off x="6898927" y="3724275"/>
            <a:ext cx="28575" cy="419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AB92B53-268F-8866-26F3-752E7FEB8949}"/>
              </a:ext>
            </a:extLst>
          </p:cNvPr>
          <p:cNvSpPr/>
          <p:nvPr/>
        </p:nvSpPr>
        <p:spPr>
          <a:xfrm>
            <a:off x="6898927" y="4476750"/>
            <a:ext cx="4464397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80EC20-C67D-F4D1-D90B-58BFFAAC0F0D}"/>
              </a:ext>
            </a:extLst>
          </p:cNvPr>
          <p:cNvSpPr/>
          <p:nvPr/>
        </p:nvSpPr>
        <p:spPr>
          <a:xfrm>
            <a:off x="6898927" y="4476750"/>
            <a:ext cx="28575" cy="419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0AB444EE-984F-812B-AAFE-9177651D2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040277"/>
            <a:ext cx="200025" cy="266700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A0F099E-45BA-7D56-3F43-0155DD2A5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901" y="3036801"/>
            <a:ext cx="200025" cy="266700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6ACFD866-B4C8-01D9-6156-897946119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341897"/>
            <a:ext cx="238125" cy="26670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5A70A61A-5BC9-F7DF-C335-DE60727C6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901" y="4351524"/>
            <a:ext cx="257175" cy="26670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3F1492BC-7AB1-A71F-8E19-86B927F73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8189" y="3505200"/>
            <a:ext cx="85725" cy="1143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B41FDBE9-9BCA-45C0-AF27-A0500199F1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8189" y="4257675"/>
            <a:ext cx="85725" cy="1143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7F078E-AA37-9B1C-86C2-B0EAC9B60B96}"/>
              </a:ext>
            </a:extLst>
          </p:cNvPr>
          <p:cNvSpPr txBox="1"/>
          <p:nvPr/>
        </p:nvSpPr>
        <p:spPr>
          <a:xfrm>
            <a:off x="609600" y="457200"/>
            <a:ext cx="110680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04 — WEBSITE DEVELOPMENT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B666CE-8073-AD83-193A-70FFA4F73221}"/>
              </a:ext>
            </a:extLst>
          </p:cNvPr>
          <p:cNvSpPr txBox="1"/>
          <p:nvPr/>
        </p:nvSpPr>
        <p:spPr>
          <a:xfrm>
            <a:off x="609600" y="704850"/>
            <a:ext cx="2348400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Technology  used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B30CD1-F276-BCFA-C66B-BB44A77E5BF1}"/>
              </a:ext>
            </a:extLst>
          </p:cNvPr>
          <p:cNvSpPr txBox="1"/>
          <p:nvPr/>
        </p:nvSpPr>
        <p:spPr>
          <a:xfrm>
            <a:off x="6898927" y="2724150"/>
            <a:ext cx="529307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DEPLOYMENT PIPELINE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2A691-952E-6FAF-15C0-F49FAF79D888}"/>
              </a:ext>
            </a:extLst>
          </p:cNvPr>
          <p:cNvSpPr txBox="1"/>
          <p:nvPr/>
        </p:nvSpPr>
        <p:spPr>
          <a:xfrm>
            <a:off x="6455178" y="3086100"/>
            <a:ext cx="535189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Local Code (VS Code)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C37C7F-2233-6B8F-F10C-0BC9513DC3EB}"/>
              </a:ext>
            </a:extLst>
          </p:cNvPr>
          <p:cNvSpPr txBox="1"/>
          <p:nvPr/>
        </p:nvSpPr>
        <p:spPr>
          <a:xfrm>
            <a:off x="6455178" y="3838575"/>
            <a:ext cx="535189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Git Repository (GitHub)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883EC6-7123-59B8-66C6-908B70DD2C54}"/>
              </a:ext>
            </a:extLst>
          </p:cNvPr>
          <p:cNvSpPr txBox="1"/>
          <p:nvPr/>
        </p:nvSpPr>
        <p:spPr>
          <a:xfrm>
            <a:off x="6455178" y="4591050"/>
            <a:ext cx="535189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Vercel Automated Deployment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FCDA7A-74DC-364E-EA63-CC45C2A8F1B4}"/>
              </a:ext>
            </a:extLst>
          </p:cNvPr>
          <p:cNvSpPr txBox="1"/>
          <p:nvPr/>
        </p:nvSpPr>
        <p:spPr>
          <a:xfrm>
            <a:off x="1104900" y="2997414"/>
            <a:ext cx="197524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HTML5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43C5E1-1002-AA58-130B-891330966E98}"/>
              </a:ext>
            </a:extLst>
          </p:cNvPr>
          <p:cNvSpPr txBox="1"/>
          <p:nvPr/>
        </p:nvSpPr>
        <p:spPr>
          <a:xfrm>
            <a:off x="1104900" y="3255094"/>
            <a:ext cx="1881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Website structure &amp; markup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26BA7B-82CF-6917-C475-619744174FC3}"/>
              </a:ext>
            </a:extLst>
          </p:cNvPr>
          <p:cNvSpPr txBox="1"/>
          <p:nvPr/>
        </p:nvSpPr>
        <p:spPr>
          <a:xfrm>
            <a:off x="4073276" y="2987791"/>
            <a:ext cx="2000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CSS3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A09EB8-6728-D62A-DF95-CC00F3A4278E}"/>
              </a:ext>
            </a:extLst>
          </p:cNvPr>
          <p:cNvSpPr txBox="1"/>
          <p:nvPr/>
        </p:nvSpPr>
        <p:spPr>
          <a:xfrm>
            <a:off x="4073276" y="324546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Visual styling &amp; page layouts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9FC074-EEEC-FE4C-E286-B064DE9BD75C}"/>
              </a:ext>
            </a:extLst>
          </p:cNvPr>
          <p:cNvSpPr txBox="1"/>
          <p:nvPr/>
        </p:nvSpPr>
        <p:spPr>
          <a:xfrm>
            <a:off x="1143000" y="4299033"/>
            <a:ext cx="149018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Git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B7B7EC-FD30-41F0-47AD-6AC9A4B8384B}"/>
              </a:ext>
            </a:extLst>
          </p:cNvPr>
          <p:cNvSpPr txBox="1"/>
          <p:nvPr/>
        </p:nvSpPr>
        <p:spPr>
          <a:xfrm>
            <a:off x="1143000" y="4547086"/>
            <a:ext cx="1419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Local version control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5E0EA3-201B-0B26-9331-E7B2C1D8AAA2}"/>
              </a:ext>
            </a:extLst>
          </p:cNvPr>
          <p:cNvSpPr txBox="1"/>
          <p:nvPr/>
        </p:nvSpPr>
        <p:spPr>
          <a:xfrm>
            <a:off x="4130426" y="4299034"/>
            <a:ext cx="217527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GitHub &amp;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Vercel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4CAB22-D196-C5E5-4984-CC7DAB52DCFE}"/>
              </a:ext>
            </a:extLst>
          </p:cNvPr>
          <p:cNvSpPr txBox="1"/>
          <p:nvPr/>
        </p:nvSpPr>
        <p:spPr>
          <a:xfrm>
            <a:off x="4130426" y="4585587"/>
            <a:ext cx="2071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Source repo &amp; live deployment</a:t>
            </a:r>
          </a:p>
        </p:txBody>
      </p:sp>
    </p:spTree>
    <p:extLst>
      <p:ext uri="{BB962C8B-B14F-4D97-AF65-F5344CB8AC3E}">
        <p14:creationId xmlns:p14="http://schemas.microsoft.com/office/powerpoint/2010/main" val="1038390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11CC-77C2-7994-D6E9-6D3E61DD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DF25429-DDD3-1D58-6C2F-68A1F3B63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371A87-7907-F3FB-3C70-5DF22BBD0F35}"/>
              </a:ext>
            </a:extLst>
          </p:cNvPr>
          <p:cNvSpPr/>
          <p:nvPr/>
        </p:nvSpPr>
        <p:spPr>
          <a:xfrm>
            <a:off x="609600" y="2967037"/>
            <a:ext cx="6081117" cy="190500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511FA5-8B72-7B0E-7F73-FDB54494B614}"/>
              </a:ext>
            </a:extLst>
          </p:cNvPr>
          <p:cNvSpPr/>
          <p:nvPr/>
        </p:nvSpPr>
        <p:spPr>
          <a:xfrm>
            <a:off x="619125" y="2976562"/>
            <a:ext cx="6062067" cy="381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0AF6DF-FF4F-0F89-319E-CE1E7AA9CC75}"/>
              </a:ext>
            </a:extLst>
          </p:cNvPr>
          <p:cNvSpPr/>
          <p:nvPr/>
        </p:nvSpPr>
        <p:spPr>
          <a:xfrm>
            <a:off x="6919317" y="2529147"/>
            <a:ext cx="4663082" cy="833437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BB35F-A4C9-F4AB-EAF1-BAC6BAE887D8}"/>
              </a:ext>
            </a:extLst>
          </p:cNvPr>
          <p:cNvSpPr/>
          <p:nvPr/>
        </p:nvSpPr>
        <p:spPr>
          <a:xfrm>
            <a:off x="6919317" y="2498982"/>
            <a:ext cx="4663082" cy="833437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2718264-14F7-CF16-97F3-B30FFEBCE0A9}"/>
              </a:ext>
            </a:extLst>
          </p:cNvPr>
          <p:cNvSpPr/>
          <p:nvPr/>
        </p:nvSpPr>
        <p:spPr>
          <a:xfrm>
            <a:off x="771525" y="311943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3BDE0E-4435-1A95-82BD-DF9062652039}"/>
              </a:ext>
            </a:extLst>
          </p:cNvPr>
          <p:cNvSpPr/>
          <p:nvPr/>
        </p:nvSpPr>
        <p:spPr>
          <a:xfrm>
            <a:off x="942975" y="3119437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D3F427C-BAF3-FCFF-F246-7E734231C451}"/>
              </a:ext>
            </a:extLst>
          </p:cNvPr>
          <p:cNvSpPr/>
          <p:nvPr/>
        </p:nvSpPr>
        <p:spPr>
          <a:xfrm>
            <a:off x="1114425" y="311943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32785F-CDAF-7171-172B-5E97FAE801F8}"/>
              </a:ext>
            </a:extLst>
          </p:cNvPr>
          <p:cNvSpPr/>
          <p:nvPr/>
        </p:nvSpPr>
        <p:spPr>
          <a:xfrm>
            <a:off x="1362075" y="3071812"/>
            <a:ext cx="5166717" cy="1905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5E1F53-06AD-9396-9755-0EC2B1E0ACEF}"/>
              </a:ext>
            </a:extLst>
          </p:cNvPr>
          <p:cNvSpPr/>
          <p:nvPr/>
        </p:nvSpPr>
        <p:spPr>
          <a:xfrm>
            <a:off x="6919317" y="2529147"/>
            <a:ext cx="38100" cy="833437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4AD858-3AEF-E419-9353-085134375CBA}"/>
              </a:ext>
            </a:extLst>
          </p:cNvPr>
          <p:cNvSpPr/>
          <p:nvPr/>
        </p:nvSpPr>
        <p:spPr>
          <a:xfrm>
            <a:off x="6919317" y="2498982"/>
            <a:ext cx="38100" cy="833437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05E915-7E7C-004B-514F-B37E79D1C95F}"/>
              </a:ext>
            </a:extLst>
          </p:cNvPr>
          <p:cNvSpPr/>
          <p:nvPr/>
        </p:nvSpPr>
        <p:spPr>
          <a:xfrm>
            <a:off x="809625" y="4005262"/>
            <a:ext cx="2783383" cy="666750"/>
          </a:xfrm>
          <a:prstGeom prst="roundRect">
            <a:avLst>
              <a:gd name="adj" fmla="val 11428"/>
            </a:avLst>
          </a:prstGeom>
          <a:solidFill>
            <a:srgbClr val="12243A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0E9255-C107-24CC-AED7-10D8293A017C}"/>
              </a:ext>
            </a:extLst>
          </p:cNvPr>
          <p:cNvSpPr/>
          <p:nvPr/>
        </p:nvSpPr>
        <p:spPr>
          <a:xfrm>
            <a:off x="3707308" y="4005262"/>
            <a:ext cx="2783383" cy="666750"/>
          </a:xfrm>
          <a:prstGeom prst="roundRect">
            <a:avLst>
              <a:gd name="adj" fmla="val 11428"/>
            </a:avLst>
          </a:prstGeom>
          <a:solidFill>
            <a:srgbClr val="0E2438"/>
          </a:solidFill>
          <a:ln w="9525">
            <a:solidFill>
              <a:srgbClr val="0D37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61C714-E569-A67B-46BA-5200B5D5740A}"/>
              </a:ext>
            </a:extLst>
          </p:cNvPr>
          <p:cNvSpPr txBox="1"/>
          <p:nvPr/>
        </p:nvSpPr>
        <p:spPr>
          <a:xfrm>
            <a:off x="11001375" y="457200"/>
            <a:ext cx="8667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F23B6D-F04F-FF2F-7C9D-97BA64C718BB}"/>
              </a:ext>
            </a:extLst>
          </p:cNvPr>
          <p:cNvSpPr txBox="1"/>
          <p:nvPr/>
        </p:nvSpPr>
        <p:spPr>
          <a:xfrm>
            <a:off x="609600" y="457200"/>
            <a:ext cx="3250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PLATFORM TOUR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D333E-DF1A-8BD9-6DF0-B2965B8B4292}"/>
              </a:ext>
            </a:extLst>
          </p:cNvPr>
          <p:cNvSpPr txBox="1"/>
          <p:nvPr/>
        </p:nvSpPr>
        <p:spPr>
          <a:xfrm>
            <a:off x="609600" y="714375"/>
            <a:ext cx="3412926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Inside CodFlow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9C25A6-82A3-2BAC-4E19-EF63FE1F9845}"/>
              </a:ext>
            </a:extLst>
          </p:cNvPr>
          <p:cNvSpPr txBox="1"/>
          <p:nvPr/>
        </p:nvSpPr>
        <p:spPr>
          <a:xfrm>
            <a:off x="1457325" y="3100387"/>
            <a:ext cx="507146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codflow.vercel.app/lessons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C125B-E892-8CF0-B06F-70CA80FAE246}"/>
              </a:ext>
            </a:extLst>
          </p:cNvPr>
          <p:cNvSpPr txBox="1"/>
          <p:nvPr/>
        </p:nvSpPr>
        <p:spPr>
          <a:xfrm>
            <a:off x="7147917" y="2700597"/>
            <a:ext cx="50440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FFFFF"/>
                </a:solidFill>
                <a:latin typeface="Space Grotesk"/>
              </a:rPr>
              <a:t>LESSONS PAGE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174A6C-24F3-4595-5594-D2B3CE74AB18}"/>
              </a:ext>
            </a:extLst>
          </p:cNvPr>
          <p:cNvSpPr txBox="1"/>
          <p:nvPr/>
        </p:nvSpPr>
        <p:spPr>
          <a:xfrm>
            <a:off x="7147917" y="2976822"/>
            <a:ext cx="504408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94A3B8"/>
                </a:solidFill>
                <a:latin typeface="Inter"/>
              </a:rPr>
              <a:t>Tutorials organized by language and subject.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CC9E9B-A2EF-FE56-9467-7A2054395B6C}"/>
              </a:ext>
            </a:extLst>
          </p:cNvPr>
          <p:cNvSpPr txBox="1"/>
          <p:nvPr/>
        </p:nvSpPr>
        <p:spPr>
          <a:xfrm>
            <a:off x="7147917" y="2670432"/>
            <a:ext cx="50440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CODE VIEWER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C82648-DE0F-B5AE-F0AF-7850367E9394}"/>
              </a:ext>
            </a:extLst>
          </p:cNvPr>
          <p:cNvSpPr txBox="1"/>
          <p:nvPr/>
        </p:nvSpPr>
        <p:spPr>
          <a:xfrm>
            <a:off x="7147917" y="2946657"/>
            <a:ext cx="504408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Styled code blocks with "Copy Code" button.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8206C8-CFC2-F774-F183-6A73C078B17F}"/>
              </a:ext>
            </a:extLst>
          </p:cNvPr>
          <p:cNvSpPr txBox="1"/>
          <p:nvPr/>
        </p:nvSpPr>
        <p:spPr>
          <a:xfrm>
            <a:off x="809625" y="3548062"/>
            <a:ext cx="1000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CODFLOW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32BE0A-4974-E210-06EC-380A1E9D6119}"/>
              </a:ext>
            </a:extLst>
          </p:cNvPr>
          <p:cNvSpPr txBox="1"/>
          <p:nvPr/>
        </p:nvSpPr>
        <p:spPr>
          <a:xfrm>
            <a:off x="923925" y="4119562"/>
            <a:ext cx="2650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LESSON 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8E25D3-2BD3-7E04-CD20-0AAB894F6736}"/>
              </a:ext>
            </a:extLst>
          </p:cNvPr>
          <p:cNvSpPr txBox="1"/>
          <p:nvPr/>
        </p:nvSpPr>
        <p:spPr>
          <a:xfrm>
            <a:off x="3821608" y="4119562"/>
            <a:ext cx="2650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Inter"/>
              </a:rPr>
              <a:t>LESSON 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A5DD03-79BC-70A5-F2CE-EE7E1954211A}"/>
              </a:ext>
            </a:extLst>
          </p:cNvPr>
          <p:cNvSpPr txBox="1"/>
          <p:nvPr/>
        </p:nvSpPr>
        <p:spPr>
          <a:xfrm>
            <a:off x="4699992" y="3576637"/>
            <a:ext cx="6096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Home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AC8356-3B12-3169-B575-B9FAA05CF806}"/>
              </a:ext>
            </a:extLst>
          </p:cNvPr>
          <p:cNvSpPr txBox="1"/>
          <p:nvPr/>
        </p:nvSpPr>
        <p:spPr>
          <a:xfrm>
            <a:off x="5176242" y="3576637"/>
            <a:ext cx="752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Lessons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9273A5-5195-B324-1C49-9362D7145BDA}"/>
              </a:ext>
            </a:extLst>
          </p:cNvPr>
          <p:cNvSpPr txBox="1"/>
          <p:nvPr/>
        </p:nvSpPr>
        <p:spPr>
          <a:xfrm>
            <a:off x="5795367" y="3576637"/>
            <a:ext cx="981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Code Viewer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035930-C822-BF4A-BA7A-F4EB0DCC815B}"/>
              </a:ext>
            </a:extLst>
          </p:cNvPr>
          <p:cNvSpPr txBox="1"/>
          <p:nvPr/>
        </p:nvSpPr>
        <p:spPr>
          <a:xfrm>
            <a:off x="933450" y="4357687"/>
            <a:ext cx="316966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JavaScript Arrays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29CBDC-A52E-6110-A6DB-C5D52F718BF1}"/>
              </a:ext>
            </a:extLst>
          </p:cNvPr>
          <p:cNvSpPr txBox="1"/>
          <p:nvPr/>
        </p:nvSpPr>
        <p:spPr>
          <a:xfrm>
            <a:off x="3831133" y="4357687"/>
            <a:ext cx="316966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React State Hooks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D1A308-B837-A963-DBDA-CC8BBBC746EC}"/>
              </a:ext>
            </a:extLst>
          </p:cNvPr>
          <p:cNvSpPr/>
          <p:nvPr/>
        </p:nvSpPr>
        <p:spPr>
          <a:xfrm>
            <a:off x="6919317" y="2516981"/>
            <a:ext cx="4663082" cy="833437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50C53B-31DF-3F58-7D70-A0EDA081B16D}"/>
              </a:ext>
            </a:extLst>
          </p:cNvPr>
          <p:cNvSpPr/>
          <p:nvPr/>
        </p:nvSpPr>
        <p:spPr>
          <a:xfrm>
            <a:off x="6919317" y="2516981"/>
            <a:ext cx="38100" cy="83343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CF08ED-5895-70FB-D009-E6AF86B320FC}"/>
              </a:ext>
            </a:extLst>
          </p:cNvPr>
          <p:cNvSpPr txBox="1"/>
          <p:nvPr/>
        </p:nvSpPr>
        <p:spPr>
          <a:xfrm>
            <a:off x="7147917" y="2688431"/>
            <a:ext cx="50440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HOME PAGE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FA6FC4-CE38-9A17-44DB-770574FD427A}"/>
              </a:ext>
            </a:extLst>
          </p:cNvPr>
          <p:cNvSpPr txBox="1"/>
          <p:nvPr/>
        </p:nvSpPr>
        <p:spPr>
          <a:xfrm>
            <a:off x="7147917" y="2964656"/>
            <a:ext cx="504408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Quick overview and course entry points.</a:t>
            </a:r>
          </a:p>
        </p:txBody>
      </p:sp>
    </p:spTree>
    <p:extLst>
      <p:ext uri="{BB962C8B-B14F-4D97-AF65-F5344CB8AC3E}">
        <p14:creationId xmlns:p14="http://schemas.microsoft.com/office/powerpoint/2010/main" val="4103563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967037"/>
            <a:ext cx="6081117" cy="190500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5" y="2976562"/>
            <a:ext cx="6062067" cy="381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19317" y="2516981"/>
            <a:ext cx="4663082" cy="833437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19317" y="3502818"/>
            <a:ext cx="4663082" cy="833437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19317" y="4488656"/>
            <a:ext cx="4663082" cy="833437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1525" y="311943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2975" y="3119437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14425" y="311943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62075" y="3071812"/>
            <a:ext cx="5166717" cy="1905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19317" y="2516981"/>
            <a:ext cx="38100" cy="83343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19317" y="3502818"/>
            <a:ext cx="38100" cy="833437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19317" y="4488656"/>
            <a:ext cx="38100" cy="833437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625" y="4005262"/>
            <a:ext cx="2783383" cy="666750"/>
          </a:xfrm>
          <a:prstGeom prst="roundRect">
            <a:avLst>
              <a:gd name="adj" fmla="val 11428"/>
            </a:avLst>
          </a:prstGeom>
          <a:solidFill>
            <a:srgbClr val="12243A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07308" y="4005262"/>
            <a:ext cx="2783383" cy="666750"/>
          </a:xfrm>
          <a:prstGeom prst="roundRect">
            <a:avLst>
              <a:gd name="adj" fmla="val 11428"/>
            </a:avLst>
          </a:prstGeom>
          <a:solidFill>
            <a:srgbClr val="0E2438"/>
          </a:solidFill>
          <a:ln w="9525">
            <a:solidFill>
              <a:srgbClr val="0D37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01375" y="457200"/>
            <a:ext cx="8667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3250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PLATFORM TOUR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14375"/>
            <a:ext cx="3412926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Inside CodFlow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3100387"/>
            <a:ext cx="507146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JetBrains Mono"/>
              </a:rPr>
              <a:t>codflow.vercel.app/lessons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917" y="2688431"/>
            <a:ext cx="50440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HOME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7917" y="2964656"/>
            <a:ext cx="504408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Quick overview and course entry points.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7917" y="3674268"/>
            <a:ext cx="50440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LESSONS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917" y="3950493"/>
            <a:ext cx="504408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94A3B8"/>
                </a:solidFill>
                <a:latin typeface="Inter"/>
              </a:rPr>
              <a:t>Tutorials organized by language and subject.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7917" y="4660106"/>
            <a:ext cx="50440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CODE 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7917" y="4936331"/>
            <a:ext cx="504408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Styled code blocks with "Copy Code" button.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3548062"/>
            <a:ext cx="1000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CODFLOW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4119562"/>
            <a:ext cx="2650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LESSON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1608" y="4119562"/>
            <a:ext cx="2650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2D3EE"/>
                </a:solidFill>
                <a:latin typeface="Inter"/>
              </a:rPr>
              <a:t>LESSON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9992" y="3576637"/>
            <a:ext cx="6096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Home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6242" y="3576637"/>
            <a:ext cx="752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Lessons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5367" y="3576637"/>
            <a:ext cx="981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Code 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50" y="4357687"/>
            <a:ext cx="316966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JavaScript Arrays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1133" y="4357687"/>
            <a:ext cx="316966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React State Hooks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305050"/>
            <a:ext cx="10972800" cy="1866900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38275"/>
            <a:ext cx="3530649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1438275"/>
            <a:ext cx="3530649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1438275"/>
            <a:ext cx="3530649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 w="9525">
            <a:solidFill>
              <a:srgbClr val="1D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43387" y="2905125"/>
            <a:ext cx="3117800" cy="990600"/>
          </a:xfrm>
          <a:prstGeom prst="roundRect">
            <a:avLst>
              <a:gd name="adj" fmla="val 11538"/>
            </a:avLst>
          </a:prstGeom>
          <a:solidFill>
            <a:srgbClr val="211B2C"/>
          </a:solidFill>
          <a:ln w="9525">
            <a:solidFill>
              <a:srgbClr val="3C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37025" y="2905125"/>
            <a:ext cx="3117800" cy="990600"/>
          </a:xfrm>
          <a:prstGeom prst="roundRect">
            <a:avLst>
              <a:gd name="adj" fmla="val 11538"/>
            </a:avLst>
          </a:prstGeom>
          <a:solidFill>
            <a:srgbClr val="12243A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2905125"/>
            <a:ext cx="3117800" cy="990600"/>
          </a:xfrm>
          <a:prstGeom prst="roundRect">
            <a:avLst>
              <a:gd name="adj" fmla="val 11538"/>
            </a:avLst>
          </a:prstGeom>
          <a:solidFill>
            <a:srgbClr val="0F2431"/>
          </a:solidFill>
          <a:ln w="9525">
            <a:solidFill>
              <a:srgbClr val="0F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581" y="1663700"/>
            <a:ext cx="1619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381" y="1686983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63" y="1643063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125" y="3314700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325" y="3314700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39475" y="457200"/>
            <a:ext cx="828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5726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ADAPTABILITY &amp;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14375"/>
            <a:ext cx="6013251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Designed for Every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581275"/>
            <a:ext cx="11306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TECHNICAL CHALLENGE &amp;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1600200"/>
            <a:ext cx="147018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1800225"/>
            <a:ext cx="1400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Responsive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0824" y="1600200"/>
            <a:ext cx="13301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Laptop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0824" y="1800225"/>
            <a:ext cx="1266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Fluid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3399" y="1600200"/>
            <a:ext cx="14501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Desktop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3399" y="1800225"/>
            <a:ext cx="1381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Ultra-wide Canvas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3412" y="3105150"/>
            <a:ext cx="3397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Inter"/>
              </a:rPr>
              <a:t>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3412" y="3314700"/>
            <a:ext cx="28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Wide code blocks broke mobile layouts.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7050" y="3105150"/>
            <a:ext cx="3397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7050" y="3314700"/>
            <a:ext cx="28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Implemented horizontal scrolling using overflow-x.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" y="3105150"/>
            <a:ext cx="3397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" y="3314700"/>
            <a:ext cx="28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Zero layout breakage on mobile viewports.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ECE20-E073-2D5E-1023-C059B9F7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76380F8-6828-88BC-19B4-65049A82F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3103EFA-D818-ABD5-638C-D3724EC8528A}"/>
              </a:ext>
            </a:extLst>
          </p:cNvPr>
          <p:cNvSpPr/>
          <p:nvPr/>
        </p:nvSpPr>
        <p:spPr>
          <a:xfrm>
            <a:off x="609600" y="2305050"/>
            <a:ext cx="10972800" cy="1866900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FE49EE-09F0-5E04-9E5C-039DA7D07642}"/>
              </a:ext>
            </a:extLst>
          </p:cNvPr>
          <p:cNvSpPr/>
          <p:nvPr/>
        </p:nvSpPr>
        <p:spPr>
          <a:xfrm>
            <a:off x="609600" y="1438275"/>
            <a:ext cx="3530649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4AFF79-C91F-53D9-E3B4-18A85AEE4D1E}"/>
              </a:ext>
            </a:extLst>
          </p:cNvPr>
          <p:cNvSpPr/>
          <p:nvPr/>
        </p:nvSpPr>
        <p:spPr>
          <a:xfrm>
            <a:off x="4330749" y="1438275"/>
            <a:ext cx="3530649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8FC44B-60D3-AF1D-D38F-3409414F43F8}"/>
              </a:ext>
            </a:extLst>
          </p:cNvPr>
          <p:cNvSpPr/>
          <p:nvPr/>
        </p:nvSpPr>
        <p:spPr>
          <a:xfrm>
            <a:off x="8051899" y="1438275"/>
            <a:ext cx="3530649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 w="9525">
            <a:solidFill>
              <a:srgbClr val="1D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0C92AC-81FE-696B-9465-C47D1F273AF7}"/>
              </a:ext>
            </a:extLst>
          </p:cNvPr>
          <p:cNvSpPr/>
          <p:nvPr/>
        </p:nvSpPr>
        <p:spPr>
          <a:xfrm>
            <a:off x="885825" y="2905125"/>
            <a:ext cx="3117800" cy="990600"/>
          </a:xfrm>
          <a:prstGeom prst="roundRect">
            <a:avLst>
              <a:gd name="adj" fmla="val 11538"/>
            </a:avLst>
          </a:prstGeom>
          <a:solidFill>
            <a:srgbClr val="211B2C"/>
          </a:solidFill>
          <a:ln w="9525">
            <a:solidFill>
              <a:srgbClr val="3C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7C19DF6-405E-1CBF-3706-65477961DA4F}"/>
              </a:ext>
            </a:extLst>
          </p:cNvPr>
          <p:cNvSpPr/>
          <p:nvPr/>
        </p:nvSpPr>
        <p:spPr>
          <a:xfrm>
            <a:off x="4537025" y="2905125"/>
            <a:ext cx="3117800" cy="990600"/>
          </a:xfrm>
          <a:prstGeom prst="roundRect">
            <a:avLst>
              <a:gd name="adj" fmla="val 11538"/>
            </a:avLst>
          </a:prstGeom>
          <a:solidFill>
            <a:srgbClr val="12243A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53434D-3EDA-6CBA-870C-C72E0A7742D7}"/>
              </a:ext>
            </a:extLst>
          </p:cNvPr>
          <p:cNvSpPr/>
          <p:nvPr/>
        </p:nvSpPr>
        <p:spPr>
          <a:xfrm>
            <a:off x="8188225" y="2905125"/>
            <a:ext cx="3117800" cy="990600"/>
          </a:xfrm>
          <a:prstGeom prst="roundRect">
            <a:avLst>
              <a:gd name="adj" fmla="val 11538"/>
            </a:avLst>
          </a:prstGeom>
          <a:solidFill>
            <a:srgbClr val="0F2431"/>
          </a:solidFill>
          <a:ln w="9525">
            <a:solidFill>
              <a:srgbClr val="0F3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59415F5E-2EDA-443E-A86A-FE089A3B1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671637"/>
            <a:ext cx="161925" cy="20955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99C33FA2-D4A8-5911-CFFC-8F7D5F3DE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774" y="1671637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A7A6FA36-E1C1-93F8-454B-7B2AA7657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924" y="1671637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16ABD128-6F6D-5D89-A3AA-1A249F2F7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125" y="3314700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C3C6238B-FADA-2E6E-5C88-94ACC38D9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325" y="3314700"/>
            <a:ext cx="152400" cy="171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FCC8B9-C8F2-A561-8447-7EBCA58F07B5}"/>
              </a:ext>
            </a:extLst>
          </p:cNvPr>
          <p:cNvSpPr txBox="1"/>
          <p:nvPr/>
        </p:nvSpPr>
        <p:spPr>
          <a:xfrm>
            <a:off x="11039475" y="457200"/>
            <a:ext cx="828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4AB65-4AF3-A0FB-4517-40C2EBA46D2D}"/>
              </a:ext>
            </a:extLst>
          </p:cNvPr>
          <p:cNvSpPr txBox="1"/>
          <p:nvPr/>
        </p:nvSpPr>
        <p:spPr>
          <a:xfrm>
            <a:off x="609600" y="457200"/>
            <a:ext cx="5726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ADAPTABILITY &amp; FIXES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61938-B7DF-EEB6-1572-01DA3E80D587}"/>
              </a:ext>
            </a:extLst>
          </p:cNvPr>
          <p:cNvSpPr txBox="1"/>
          <p:nvPr/>
        </p:nvSpPr>
        <p:spPr>
          <a:xfrm>
            <a:off x="609600" y="714375"/>
            <a:ext cx="6013251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Designed for Every Screen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56AF06-4C0F-293D-AD51-640D82333F34}"/>
              </a:ext>
            </a:extLst>
          </p:cNvPr>
          <p:cNvSpPr txBox="1"/>
          <p:nvPr/>
        </p:nvSpPr>
        <p:spPr>
          <a:xfrm>
            <a:off x="885825" y="2581275"/>
            <a:ext cx="11306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TECHNICAL CHALLENGE &amp; RESOLUTION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42C55-56D5-2506-8DFB-6B2B2ED4B1D0}"/>
              </a:ext>
            </a:extLst>
          </p:cNvPr>
          <p:cNvSpPr txBox="1"/>
          <p:nvPr/>
        </p:nvSpPr>
        <p:spPr>
          <a:xfrm>
            <a:off x="1104900" y="1600200"/>
            <a:ext cx="147018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Mobile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94765D-CFE0-ABC2-6D60-288AB15D55AF}"/>
              </a:ext>
            </a:extLst>
          </p:cNvPr>
          <p:cNvSpPr txBox="1"/>
          <p:nvPr/>
        </p:nvSpPr>
        <p:spPr>
          <a:xfrm>
            <a:off x="1104900" y="1800225"/>
            <a:ext cx="1400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Responsive Layout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41B93A-EC64-E1A5-1355-1F93D82FEFA7}"/>
              </a:ext>
            </a:extLst>
          </p:cNvPr>
          <p:cNvSpPr txBox="1"/>
          <p:nvPr/>
        </p:nvSpPr>
        <p:spPr>
          <a:xfrm>
            <a:off x="4930824" y="1600200"/>
            <a:ext cx="13301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Laptop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FA7361-FD60-4458-5AF7-BA12957F849A}"/>
              </a:ext>
            </a:extLst>
          </p:cNvPr>
          <p:cNvSpPr txBox="1"/>
          <p:nvPr/>
        </p:nvSpPr>
        <p:spPr>
          <a:xfrm>
            <a:off x="4930824" y="1800225"/>
            <a:ext cx="1266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Fluid Workspace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BD2A33-8FEB-C1DA-BFC3-551F5F7CC187}"/>
              </a:ext>
            </a:extLst>
          </p:cNvPr>
          <p:cNvSpPr txBox="1"/>
          <p:nvPr/>
        </p:nvSpPr>
        <p:spPr>
          <a:xfrm>
            <a:off x="8623399" y="1600200"/>
            <a:ext cx="14501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Desktop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0CDD2A-0DDA-F497-B03C-E83EC7D8F8C6}"/>
              </a:ext>
            </a:extLst>
          </p:cNvPr>
          <p:cNvSpPr txBox="1"/>
          <p:nvPr/>
        </p:nvSpPr>
        <p:spPr>
          <a:xfrm>
            <a:off x="8623399" y="1800225"/>
            <a:ext cx="1381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Ultra-wide Canvas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C2708D-CC9F-A166-4D25-7C1621F62B77}"/>
              </a:ext>
            </a:extLst>
          </p:cNvPr>
          <p:cNvSpPr txBox="1"/>
          <p:nvPr/>
        </p:nvSpPr>
        <p:spPr>
          <a:xfrm>
            <a:off x="1085850" y="3105150"/>
            <a:ext cx="3397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Inter"/>
              </a:rPr>
              <a:t>CHALLENGE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737CFD-903B-1F30-5AA8-A8CD00966E08}"/>
              </a:ext>
            </a:extLst>
          </p:cNvPr>
          <p:cNvSpPr txBox="1"/>
          <p:nvPr/>
        </p:nvSpPr>
        <p:spPr>
          <a:xfrm>
            <a:off x="1085850" y="3314700"/>
            <a:ext cx="28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Wide code blocks broke mobile layouts.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87FF82-9096-5CD0-DE9F-516987641595}"/>
              </a:ext>
            </a:extLst>
          </p:cNvPr>
          <p:cNvSpPr txBox="1"/>
          <p:nvPr/>
        </p:nvSpPr>
        <p:spPr>
          <a:xfrm>
            <a:off x="4737050" y="3105150"/>
            <a:ext cx="3397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SOLUTION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45881F-C247-8CE6-6C11-30939B854572}"/>
              </a:ext>
            </a:extLst>
          </p:cNvPr>
          <p:cNvSpPr txBox="1"/>
          <p:nvPr/>
        </p:nvSpPr>
        <p:spPr>
          <a:xfrm>
            <a:off x="4737050" y="3314700"/>
            <a:ext cx="28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Implemented horizontal scrolling using overflow-x.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E160F4-0BCF-EC27-00B0-936161A76B3D}"/>
              </a:ext>
            </a:extLst>
          </p:cNvPr>
          <p:cNvSpPr txBox="1"/>
          <p:nvPr/>
        </p:nvSpPr>
        <p:spPr>
          <a:xfrm>
            <a:off x="8388250" y="3105150"/>
            <a:ext cx="3397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RESULT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48A9CB-2322-E74B-BDA7-DAB29D82C177}"/>
              </a:ext>
            </a:extLst>
          </p:cNvPr>
          <p:cNvSpPr txBox="1"/>
          <p:nvPr/>
        </p:nvSpPr>
        <p:spPr>
          <a:xfrm>
            <a:off x="8388250" y="3314700"/>
            <a:ext cx="281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Zero layout breakage on mobile viewports.</a:t>
            </a:r>
          </a:p>
        </p:txBody>
      </p:sp>
    </p:spTree>
    <p:extLst>
      <p:ext uri="{BB962C8B-B14F-4D97-AF65-F5344CB8AC3E}">
        <p14:creationId xmlns:p14="http://schemas.microsoft.com/office/powerpoint/2010/main" val="966355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4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626221"/>
            <a:ext cx="3505200" cy="2724712"/>
          </a:xfrm>
          <a:prstGeom prst="roundRect">
            <a:avLst>
              <a:gd name="adj" fmla="val 6339"/>
            </a:avLst>
          </a:prstGeom>
          <a:solidFill>
            <a:srgbClr val="0F172A"/>
          </a:solidFill>
          <a:ln w="9525">
            <a:solidFill>
              <a:srgbClr val="44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55701"/>
            <a:ext cx="3505200" cy="2403871"/>
          </a:xfrm>
          <a:prstGeom prst="roundRect">
            <a:avLst>
              <a:gd name="adj" fmla="val 5723"/>
            </a:avLst>
          </a:prstGeom>
          <a:solidFill>
            <a:srgbClr val="0F172A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55701"/>
            <a:ext cx="3505200" cy="2403871"/>
          </a:xfrm>
          <a:prstGeom prst="roundRect">
            <a:avLst>
              <a:gd name="adj" fmla="val 6339"/>
            </a:avLst>
          </a:prstGeom>
          <a:solidFill>
            <a:srgbClr val="0F172A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9684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097169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070026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308378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1550" y="3225234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350" y="3193851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6917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QUALITY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726340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Testing → Improving → Refining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16125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F87171"/>
                </a:solidFill>
                <a:latin typeface="Inter"/>
              </a:rPr>
              <a:t>01. AUDIT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861658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Problem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200325"/>
            <a:ext cx="29718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Dark mode contrast was difficult to read in lower-tier displays.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3740647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8BDF8"/>
                </a:solidFill>
                <a:latin typeface="Inter"/>
              </a:rPr>
              <a:t>02.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725" y="396078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Fix Applied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7725" y="437565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Adjusted colors for better accessibility and WCAG AA compliance.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3717726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4D399"/>
                </a:solidFill>
                <a:latin typeface="Inter"/>
              </a:rPr>
              <a:t>03.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1525" y="3946326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1525" y="4327326"/>
            <a:ext cx="29718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Optimized files and images to improve page loading speed.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8434-3E1B-BAE8-2C43-0514B747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3804514-A921-AD93-EBFC-259EF2A8A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A010B0-8F3F-E6A4-E8C9-BD5AFA64EAED}"/>
              </a:ext>
            </a:extLst>
          </p:cNvPr>
          <p:cNvSpPr/>
          <p:nvPr/>
        </p:nvSpPr>
        <p:spPr>
          <a:xfrm>
            <a:off x="609600" y="2755701"/>
            <a:ext cx="3505200" cy="2403871"/>
          </a:xfrm>
          <a:prstGeom prst="roundRect">
            <a:avLst>
              <a:gd name="adj" fmla="val 6339"/>
            </a:avLst>
          </a:prstGeom>
          <a:solidFill>
            <a:srgbClr val="0F172A"/>
          </a:solidFill>
          <a:ln w="9525">
            <a:solidFill>
              <a:srgbClr val="44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A776429-3983-2C19-197E-EDE9907102FD}"/>
              </a:ext>
            </a:extLst>
          </p:cNvPr>
          <p:cNvSpPr/>
          <p:nvPr/>
        </p:nvSpPr>
        <p:spPr>
          <a:xfrm>
            <a:off x="4343400" y="2626221"/>
            <a:ext cx="3505200" cy="2662832"/>
          </a:xfrm>
          <a:prstGeom prst="roundRect">
            <a:avLst>
              <a:gd name="adj" fmla="val 5723"/>
            </a:avLst>
          </a:prstGeom>
          <a:solidFill>
            <a:srgbClr val="0F172A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1C0072D-CCD1-D53E-3744-C321AB07777D}"/>
              </a:ext>
            </a:extLst>
          </p:cNvPr>
          <p:cNvSpPr/>
          <p:nvPr/>
        </p:nvSpPr>
        <p:spPr>
          <a:xfrm>
            <a:off x="8077200" y="2755701"/>
            <a:ext cx="3505200" cy="2403871"/>
          </a:xfrm>
          <a:prstGeom prst="roundRect">
            <a:avLst>
              <a:gd name="adj" fmla="val 6339"/>
            </a:avLst>
          </a:prstGeom>
          <a:solidFill>
            <a:srgbClr val="0F172A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6FF6F6A3-3FC9-51FA-B6AA-D271F17BE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070026"/>
            <a:ext cx="457200" cy="4572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DD264BA-FFF4-945F-9114-5F7BB1F60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2940546"/>
            <a:ext cx="457200" cy="45720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027694ED-784C-AA9C-272E-DDC5C1516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070026"/>
            <a:ext cx="457200" cy="4572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21B14E5F-4478-A341-A6B9-797C00B3F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3193851"/>
            <a:ext cx="209550" cy="2095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A16D72C8-46D2-C4BD-AE1C-41A088EB25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1550" y="3064371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05F9AA10-7505-ABE8-9558-EEB0750B58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350" y="3193851"/>
            <a:ext cx="209550" cy="2095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F9FD95-C769-389E-3C6F-5B418B5291B0}"/>
              </a:ext>
            </a:extLst>
          </p:cNvPr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85CC52-637E-19EB-9B6A-1BC1BB553700}"/>
              </a:ext>
            </a:extLst>
          </p:cNvPr>
          <p:cNvSpPr txBox="1"/>
          <p:nvPr/>
        </p:nvSpPr>
        <p:spPr>
          <a:xfrm>
            <a:off x="609600" y="457200"/>
            <a:ext cx="6917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QUALITY &amp; OPTIMIZATION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49DFF-362B-5D05-5ECE-4382B4960245}"/>
              </a:ext>
            </a:extLst>
          </p:cNvPr>
          <p:cNvSpPr txBox="1"/>
          <p:nvPr/>
        </p:nvSpPr>
        <p:spPr>
          <a:xfrm>
            <a:off x="609600" y="714375"/>
            <a:ext cx="726340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Testing → Improving → Refining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68509A-A80A-1899-AA15-2D7CD30AA5BC}"/>
              </a:ext>
            </a:extLst>
          </p:cNvPr>
          <p:cNvSpPr txBox="1"/>
          <p:nvPr/>
        </p:nvSpPr>
        <p:spPr>
          <a:xfrm>
            <a:off x="923925" y="3717726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Inter"/>
              </a:rPr>
              <a:t>01. AUDIT FINDING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7AE4F8-6F00-2AC4-0166-CA6ABE8EFC62}"/>
              </a:ext>
            </a:extLst>
          </p:cNvPr>
          <p:cNvSpPr txBox="1"/>
          <p:nvPr/>
        </p:nvSpPr>
        <p:spPr>
          <a:xfrm>
            <a:off x="923925" y="3946326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Problem Found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7C461E-BB0C-0EAF-D1D4-C9690F01195C}"/>
              </a:ext>
            </a:extLst>
          </p:cNvPr>
          <p:cNvSpPr txBox="1"/>
          <p:nvPr/>
        </p:nvSpPr>
        <p:spPr>
          <a:xfrm>
            <a:off x="923925" y="4327326"/>
            <a:ext cx="29718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Dark mode contrast was difficult to read in lower-tier displays.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1C4A6-41D3-BAE5-CF83-716E8B40490C}"/>
              </a:ext>
            </a:extLst>
          </p:cNvPr>
          <p:cNvSpPr txBox="1"/>
          <p:nvPr/>
        </p:nvSpPr>
        <p:spPr>
          <a:xfrm>
            <a:off x="4657725" y="3588246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02. IMPLEMENTATION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3233A-4686-FAED-5A99-5488E67C066A}"/>
              </a:ext>
            </a:extLst>
          </p:cNvPr>
          <p:cNvSpPr txBox="1"/>
          <p:nvPr/>
        </p:nvSpPr>
        <p:spPr>
          <a:xfrm>
            <a:off x="4657725" y="3816846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Fix Applied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2303F3-ECC8-0B75-14F5-FB24AF1786EB}"/>
              </a:ext>
            </a:extLst>
          </p:cNvPr>
          <p:cNvSpPr txBox="1"/>
          <p:nvPr/>
        </p:nvSpPr>
        <p:spPr>
          <a:xfrm>
            <a:off x="4657725" y="4197846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Adjusted colors for better accessibility and WCAG AA compliance.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6C2E2B-E8F2-2809-F14F-38C51EAB2AF7}"/>
              </a:ext>
            </a:extLst>
          </p:cNvPr>
          <p:cNvSpPr txBox="1"/>
          <p:nvPr/>
        </p:nvSpPr>
        <p:spPr>
          <a:xfrm>
            <a:off x="8391525" y="3717726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03. OUTCOME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454DC5-4F5C-EBFB-2F99-C314C40AF961}"/>
              </a:ext>
            </a:extLst>
          </p:cNvPr>
          <p:cNvSpPr txBox="1"/>
          <p:nvPr/>
        </p:nvSpPr>
        <p:spPr>
          <a:xfrm>
            <a:off x="8391525" y="3946326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Performance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CB718A-1CE2-5646-5DE5-73FF051294E8}"/>
              </a:ext>
            </a:extLst>
          </p:cNvPr>
          <p:cNvSpPr txBox="1"/>
          <p:nvPr/>
        </p:nvSpPr>
        <p:spPr>
          <a:xfrm>
            <a:off x="8391525" y="4327326"/>
            <a:ext cx="29718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Optimized files and images to improve page loading speed.</a:t>
            </a:r>
          </a:p>
        </p:txBody>
      </p:sp>
    </p:spTree>
    <p:extLst>
      <p:ext uri="{BB962C8B-B14F-4D97-AF65-F5344CB8AC3E}">
        <p14:creationId xmlns:p14="http://schemas.microsoft.com/office/powerpoint/2010/main" val="1292658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FB37-2A84-6F98-9700-B00F4A58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8CDE40A-6E78-D947-D580-9E26E044B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022A82-F837-8F15-F8AC-18221BBFA593}"/>
              </a:ext>
            </a:extLst>
          </p:cNvPr>
          <p:cNvSpPr/>
          <p:nvPr/>
        </p:nvSpPr>
        <p:spPr>
          <a:xfrm>
            <a:off x="609600" y="2755701"/>
            <a:ext cx="3505200" cy="2403871"/>
          </a:xfrm>
          <a:prstGeom prst="roundRect">
            <a:avLst>
              <a:gd name="adj" fmla="val 6339"/>
            </a:avLst>
          </a:prstGeom>
          <a:solidFill>
            <a:srgbClr val="0F172A"/>
          </a:solidFill>
          <a:ln w="9525">
            <a:solidFill>
              <a:srgbClr val="44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AB4DA6A-5CA6-EA28-51E5-3EB4A9F96926}"/>
              </a:ext>
            </a:extLst>
          </p:cNvPr>
          <p:cNvSpPr/>
          <p:nvPr/>
        </p:nvSpPr>
        <p:spPr>
          <a:xfrm>
            <a:off x="4343400" y="2755701"/>
            <a:ext cx="3505200" cy="2403871"/>
          </a:xfrm>
          <a:prstGeom prst="roundRect">
            <a:avLst>
              <a:gd name="adj" fmla="val 5723"/>
            </a:avLst>
          </a:prstGeom>
          <a:solidFill>
            <a:srgbClr val="0F172A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861EB9-858F-D480-2E0A-8273A0E585A4}"/>
              </a:ext>
            </a:extLst>
          </p:cNvPr>
          <p:cNvSpPr/>
          <p:nvPr/>
        </p:nvSpPr>
        <p:spPr>
          <a:xfrm>
            <a:off x="8077200" y="2626221"/>
            <a:ext cx="3505200" cy="2662832"/>
          </a:xfrm>
          <a:prstGeom prst="roundRect">
            <a:avLst>
              <a:gd name="adj" fmla="val 6339"/>
            </a:avLst>
          </a:prstGeom>
          <a:solidFill>
            <a:srgbClr val="0F172A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6D40BBD-6770-5134-F607-412FC3F6C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070026"/>
            <a:ext cx="457200" cy="4572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ABB9F4F1-89A0-A1EB-2C7B-E5F967799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118347"/>
            <a:ext cx="457200" cy="45720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F55C69C0-53B5-B105-84CE-F3427110C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2959957"/>
            <a:ext cx="457200" cy="4572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74CB533A-E371-1036-6098-37DA46FC6A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3193851"/>
            <a:ext cx="209550" cy="2095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144E1434-8DDB-0CBE-DB1A-F9EE50AB8C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1550" y="3198403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952021B1-6C27-A9F0-5629-C2557D76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350" y="3100714"/>
            <a:ext cx="209550" cy="2095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88AC35-C0D6-7C40-DF47-9A519AB50F33}"/>
              </a:ext>
            </a:extLst>
          </p:cNvPr>
          <p:cNvSpPr txBox="1"/>
          <p:nvPr/>
        </p:nvSpPr>
        <p:spPr>
          <a:xfrm>
            <a:off x="11010900" y="457200"/>
            <a:ext cx="8572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3DF34C-8B85-9DF2-83A8-AE26F6CDE82D}"/>
              </a:ext>
            </a:extLst>
          </p:cNvPr>
          <p:cNvSpPr txBox="1"/>
          <p:nvPr/>
        </p:nvSpPr>
        <p:spPr>
          <a:xfrm>
            <a:off x="609600" y="457200"/>
            <a:ext cx="6917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QUALITY &amp; OPTIMIZATION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C12544-B407-F3B0-B098-EEC73211046F}"/>
              </a:ext>
            </a:extLst>
          </p:cNvPr>
          <p:cNvSpPr txBox="1"/>
          <p:nvPr/>
        </p:nvSpPr>
        <p:spPr>
          <a:xfrm>
            <a:off x="609600" y="714375"/>
            <a:ext cx="726340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Testing → Improving → Refining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0C91D-E4C5-EBDA-B9D3-D92C5DAA8850}"/>
              </a:ext>
            </a:extLst>
          </p:cNvPr>
          <p:cNvSpPr txBox="1"/>
          <p:nvPr/>
        </p:nvSpPr>
        <p:spPr>
          <a:xfrm>
            <a:off x="923925" y="3717726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Inter"/>
              </a:rPr>
              <a:t>01. AUDIT FINDING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1E9795-D69E-A03F-2BC9-45A3BE48BC0B}"/>
              </a:ext>
            </a:extLst>
          </p:cNvPr>
          <p:cNvSpPr txBox="1"/>
          <p:nvPr/>
        </p:nvSpPr>
        <p:spPr>
          <a:xfrm>
            <a:off x="923925" y="3946326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Problem Found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BA3DF4-BFE7-A907-5EC6-E12519E3392C}"/>
              </a:ext>
            </a:extLst>
          </p:cNvPr>
          <p:cNvSpPr txBox="1"/>
          <p:nvPr/>
        </p:nvSpPr>
        <p:spPr>
          <a:xfrm>
            <a:off x="923925" y="4327326"/>
            <a:ext cx="29718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Dark mode contrast was difficult to read in lower-tier displays.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9129FD-9041-B30F-F9A7-5ED08F40D23C}"/>
              </a:ext>
            </a:extLst>
          </p:cNvPr>
          <p:cNvSpPr txBox="1"/>
          <p:nvPr/>
        </p:nvSpPr>
        <p:spPr>
          <a:xfrm>
            <a:off x="4657725" y="3757585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8BDF8"/>
                </a:solidFill>
                <a:latin typeface="Inter"/>
              </a:rPr>
              <a:t>02. IMPLEMENTATION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72A1D-69C5-4D6E-9303-608107980B63}"/>
              </a:ext>
            </a:extLst>
          </p:cNvPr>
          <p:cNvSpPr txBox="1"/>
          <p:nvPr/>
        </p:nvSpPr>
        <p:spPr>
          <a:xfrm>
            <a:off x="4657725" y="3986180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Fix Applied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E82470-6423-498B-12F7-EA61241EB6F2}"/>
              </a:ext>
            </a:extLst>
          </p:cNvPr>
          <p:cNvSpPr txBox="1"/>
          <p:nvPr/>
        </p:nvSpPr>
        <p:spPr>
          <a:xfrm>
            <a:off x="4657725" y="4350247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Adjusted colors for better accessibility and WCAG AA compliance.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1DC10E-3069-5A68-8D55-FA5FAA33FD45}"/>
              </a:ext>
            </a:extLst>
          </p:cNvPr>
          <p:cNvSpPr txBox="1"/>
          <p:nvPr/>
        </p:nvSpPr>
        <p:spPr>
          <a:xfrm>
            <a:off x="8391525" y="3573790"/>
            <a:ext cx="3595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4D399"/>
                </a:solidFill>
                <a:latin typeface="Inter"/>
              </a:rPr>
              <a:t>03. OUTCOME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44234-2869-E037-61CD-E52D59DB95D6}"/>
              </a:ext>
            </a:extLst>
          </p:cNvPr>
          <p:cNvSpPr txBox="1"/>
          <p:nvPr/>
        </p:nvSpPr>
        <p:spPr>
          <a:xfrm>
            <a:off x="8391525" y="3793925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Space Grotesk"/>
              </a:rPr>
              <a:t>Performance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D96AE4-A8BA-DDCD-97F2-EFB0F2513E56}"/>
              </a:ext>
            </a:extLst>
          </p:cNvPr>
          <p:cNvSpPr txBox="1"/>
          <p:nvPr/>
        </p:nvSpPr>
        <p:spPr>
          <a:xfrm>
            <a:off x="8391525" y="4124125"/>
            <a:ext cx="29718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Optimized files and images to improve page loading speed.</a:t>
            </a:r>
          </a:p>
        </p:txBody>
      </p:sp>
    </p:spTree>
    <p:extLst>
      <p:ext uri="{BB962C8B-B14F-4D97-AF65-F5344CB8AC3E}">
        <p14:creationId xmlns:p14="http://schemas.microsoft.com/office/powerpoint/2010/main" val="2721248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1476375"/>
            <a:ext cx="4710261" cy="4924425"/>
          </a:xfrm>
          <a:prstGeom prst="roundRect">
            <a:avLst>
              <a:gd name="adj" fmla="val 3235"/>
            </a:avLst>
          </a:prstGeom>
          <a:solidFill>
            <a:srgbClr val="0F172A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24661" y="1476375"/>
            <a:ext cx="5957738" cy="4924425"/>
          </a:xfrm>
          <a:prstGeom prst="roundRect">
            <a:avLst>
              <a:gd name="adj" fmla="val 3094"/>
            </a:avLst>
          </a:prstGeom>
          <a:solidFill>
            <a:srgbClr val="0F172A"/>
          </a:solidFill>
          <a:ln w="9525">
            <a:solidFill>
              <a:srgbClr val="0A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00886" y="2209800"/>
            <a:ext cx="5405288" cy="419100"/>
          </a:xfrm>
          <a:prstGeom prst="roundRect">
            <a:avLst>
              <a:gd name="adj" fmla="val 22727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00886" y="2781300"/>
            <a:ext cx="5405288" cy="419100"/>
          </a:xfrm>
          <a:prstGeom prst="roundRect">
            <a:avLst>
              <a:gd name="adj" fmla="val 22727"/>
            </a:avLst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00886" y="3352800"/>
            <a:ext cx="5405288" cy="419100"/>
          </a:xfrm>
          <a:prstGeom prst="roundRect">
            <a:avLst>
              <a:gd name="adj" fmla="val 22727"/>
            </a:avLst>
          </a:prstGeom>
          <a:solidFill>
            <a:srgbClr val="16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00886" y="3924300"/>
            <a:ext cx="5405288" cy="419100"/>
          </a:xfrm>
          <a:prstGeom prst="roundRect">
            <a:avLst>
              <a:gd name="adj" fmla="val 22727"/>
            </a:avLst>
          </a:prstGeom>
          <a:solidFill>
            <a:srgbClr val="1B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0886" y="2209800"/>
            <a:ext cx="28575" cy="419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0886" y="2781300"/>
            <a:ext cx="28575" cy="419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0886" y="3352800"/>
            <a:ext cx="28575" cy="4191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00886" y="3924300"/>
            <a:ext cx="28575" cy="4191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247900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643187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038475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01375" y="457200"/>
            <a:ext cx="8667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6822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INSIGHTS &amp;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716339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What We Learned. What's Next.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1752600"/>
            <a:ext cx="545712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Key Learnings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0886" y="1752600"/>
            <a:ext cx="629111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2D3EE"/>
                </a:solidFill>
                <a:latin typeface="Space Grotesk"/>
              </a:rPr>
              <a:t>Future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050" y="2209800"/>
            <a:ext cx="4921039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E2E8F0"/>
                </a:solidFill>
                <a:latin typeface="Inter"/>
              </a:rPr>
              <a:t>Vercel deployment workflows.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050" y="2605087"/>
            <a:ext cx="4921039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E2E8F0"/>
                </a:solidFill>
                <a:latin typeface="Inter"/>
              </a:rPr>
              <a:t>Building clean UI components.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50" y="3000375"/>
            <a:ext cx="4921039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E2E8F0"/>
                </a:solidFill>
                <a:latin typeface="Inter"/>
              </a:rPr>
              <a:t>Balancing content density and readability.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1861" y="232410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6261" y="2324100"/>
            <a:ext cx="1631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CodFlow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1861" y="289560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D3EE"/>
                </a:solidFill>
                <a:latin typeface="JetBrains Mono"/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6261" y="2895600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In-Browser Code Runner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1861" y="346710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18CF8"/>
                </a:solidFill>
                <a:latin typeface="JetBrains Mono"/>
              </a:rPr>
              <a:t>FUTURE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6261" y="3467100"/>
            <a:ext cx="22145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User Profiles &amp;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1861" y="403860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C084FC"/>
                </a:solidFill>
                <a:latin typeface="JetBrains Mono"/>
              </a:rPr>
              <a:t>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6261" y="4038600"/>
            <a:ext cx="1916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Q&amp;A Discussion Hub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966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67175" y="3351208"/>
            <a:ext cx="4057650" cy="4667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194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747837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900237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3524251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54607" y="6632744"/>
            <a:ext cx="343043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9521" y="4158184"/>
            <a:ext cx="848915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38BDF8"/>
                </a:solidFill>
                <a:latin typeface="Space Grotesk"/>
              </a:rPr>
              <a:t>CodFlow</a:t>
            </a:r>
            <a:r>
              <a:rPr sz="1800" b="1" i="0" u="none" dirty="0">
                <a:solidFill>
                  <a:srgbClr val="38BDF8"/>
                </a:solidFill>
                <a:latin typeface="Space Grotesk"/>
              </a:rPr>
              <a:t> Programming — Making Coding Simpler for Everyone.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0858" y="3043236"/>
            <a:ext cx="225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i="0" u="none" dirty="0">
                <a:solidFill>
                  <a:srgbClr val="94A3B8"/>
                </a:solidFill>
                <a:latin typeface="Inter"/>
              </a:rPr>
              <a:t>Questions?</a:t>
            </a:r>
            <a:r>
              <a:rPr lang="en-US" sz="1350" b="0" i="0" u="none" dirty="0">
                <a:solidFill>
                  <a:srgbClr val="94A3B8"/>
                </a:solidFill>
                <a:latin typeface="Inter"/>
              </a:rPr>
              <a:t> Let's Talk.</a:t>
            </a:r>
            <a:endParaRPr sz="135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74343" y="3475033"/>
            <a:ext cx="3929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 err="1">
                <a:solidFill>
                  <a:srgbClr val="22D3EE"/>
                </a:solidFill>
                <a:latin typeface="JetBrains Mono"/>
              </a:rPr>
              <a:t>codflow-programming.vercel.app</a:t>
            </a:r>
            <a:endParaRPr sz="1350" b="1" i="0" u="none" dirty="0">
              <a:solidFill>
                <a:srgbClr val="22D3EE"/>
              </a:solidFill>
              <a:latin typeface="JetBrains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6DF51-D470-4B22-4484-CF558FD38072}"/>
              </a:ext>
            </a:extLst>
          </p:cNvPr>
          <p:cNvSpPr txBox="1"/>
          <p:nvPr/>
        </p:nvSpPr>
        <p:spPr>
          <a:xfrm>
            <a:off x="-588358" y="2408750"/>
            <a:ext cx="437619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A972C-1618-47E6-C6B3-0650AB0E4126}"/>
              </a:ext>
            </a:extLst>
          </p:cNvPr>
          <p:cNvSpPr txBox="1"/>
          <p:nvPr/>
        </p:nvSpPr>
        <p:spPr>
          <a:xfrm>
            <a:off x="5296209" y="7236559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0B44E4-A035-39BA-0DB3-A4EB923E96D3}"/>
              </a:ext>
            </a:extLst>
          </p:cNvPr>
          <p:cNvSpPr txBox="1"/>
          <p:nvPr/>
        </p:nvSpPr>
        <p:spPr>
          <a:xfrm>
            <a:off x="-1124498" y="5631618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FFFFFF"/>
                </a:solidFill>
                <a:latin typeface="Space Grotesk"/>
              </a:rPr>
              <a:t>K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A743D0-D20A-A8D7-8079-CFD03CD0946F}"/>
              </a:ext>
            </a:extLst>
          </p:cNvPr>
          <p:cNvSpPr txBox="1"/>
          <p:nvPr/>
        </p:nvSpPr>
        <p:spPr>
          <a:xfrm>
            <a:off x="-1228257" y="-614754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FFFFFF"/>
                </a:solidFill>
                <a:latin typeface="Space Grotesk"/>
              </a:rPr>
              <a:t>N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BB5B56-FCDA-D7C7-574A-8289ECBDDA6D}"/>
              </a:ext>
            </a:extLst>
          </p:cNvPr>
          <p:cNvSpPr txBox="1"/>
          <p:nvPr/>
        </p:nvSpPr>
        <p:spPr>
          <a:xfrm>
            <a:off x="12470009" y="2381441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Space Grotesk"/>
              </a:rPr>
              <a:t>Y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FDF4A-5BDA-EE64-21A2-06EB70B95F43}"/>
              </a:ext>
            </a:extLst>
          </p:cNvPr>
          <p:cNvSpPr txBox="1"/>
          <p:nvPr/>
        </p:nvSpPr>
        <p:spPr>
          <a:xfrm>
            <a:off x="5202431" y="-819031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Space Grotesk"/>
              </a:rPr>
              <a:t>O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244A6-C644-DD1A-1DA7-8133183115BE}"/>
              </a:ext>
            </a:extLst>
          </p:cNvPr>
          <p:cNvSpPr txBox="1"/>
          <p:nvPr/>
        </p:nvSpPr>
        <p:spPr>
          <a:xfrm>
            <a:off x="11654817" y="-857525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Space Grotesk"/>
              </a:rPr>
              <a:t>U!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4978F-3E59-AAF3-C59B-7DA43482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190333F-6589-7678-4506-8012F2E9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966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5C9A6D3-B176-ED96-AD5A-8F2F2C117C4E}"/>
              </a:ext>
            </a:extLst>
          </p:cNvPr>
          <p:cNvSpPr/>
          <p:nvPr/>
        </p:nvSpPr>
        <p:spPr>
          <a:xfrm>
            <a:off x="4067175" y="4138612"/>
            <a:ext cx="4057650" cy="4667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194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AC94279-992D-0289-7204-C1FD59965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747837"/>
            <a:ext cx="609600" cy="6096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BB5CE7E-1484-06CF-8EF3-07B178614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900237"/>
            <a:ext cx="381000" cy="3048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CEA8F804-7F92-C6BA-A8F3-BF5AD3583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4286250"/>
            <a:ext cx="171450" cy="171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3B966B-B99E-58AD-A04C-7B41E3A52739}"/>
              </a:ext>
            </a:extLst>
          </p:cNvPr>
          <p:cNvSpPr txBox="1"/>
          <p:nvPr/>
        </p:nvSpPr>
        <p:spPr>
          <a:xfrm>
            <a:off x="4332740" y="2586037"/>
            <a:ext cx="343043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FEEB6-1631-A5DE-0E33-43DB7D14795F}"/>
              </a:ext>
            </a:extLst>
          </p:cNvPr>
          <p:cNvSpPr txBox="1"/>
          <p:nvPr/>
        </p:nvSpPr>
        <p:spPr>
          <a:xfrm>
            <a:off x="1851421" y="3576637"/>
            <a:ext cx="848915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Space Grotesk"/>
              </a:rPr>
              <a:t>CodFlow Programming — Making Coding Simpler for Everyone.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A64A8-194F-351A-639C-1953D6B40884}"/>
              </a:ext>
            </a:extLst>
          </p:cNvPr>
          <p:cNvSpPr txBox="1"/>
          <p:nvPr/>
        </p:nvSpPr>
        <p:spPr>
          <a:xfrm>
            <a:off x="4970859" y="4910137"/>
            <a:ext cx="225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Questions? Let's Talk.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F6B72-EF91-0C31-96AC-DF822FB1F10B}"/>
              </a:ext>
            </a:extLst>
          </p:cNvPr>
          <p:cNvSpPr txBox="1"/>
          <p:nvPr/>
        </p:nvSpPr>
        <p:spPr>
          <a:xfrm>
            <a:off x="4274343" y="4262437"/>
            <a:ext cx="3929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2D3EE"/>
                </a:solidFill>
                <a:latin typeface="JetBrains Mono"/>
              </a:rPr>
              <a:t>codflow-programming.vercel.app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499C4-4DA1-41AA-E83F-7525D51F80A2}"/>
              </a:ext>
            </a:extLst>
          </p:cNvPr>
          <p:cNvSpPr txBox="1"/>
          <p:nvPr/>
        </p:nvSpPr>
        <p:spPr>
          <a:xfrm>
            <a:off x="4718181" y="2584978"/>
            <a:ext cx="437619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66BC10-D83A-2936-75DF-E047BC761B05}"/>
              </a:ext>
            </a:extLst>
          </p:cNvPr>
          <p:cNvSpPr txBox="1"/>
          <p:nvPr/>
        </p:nvSpPr>
        <p:spPr>
          <a:xfrm>
            <a:off x="4571994" y="2594504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6F227D-A297-D900-0EB3-5B035BC0BA78}"/>
              </a:ext>
            </a:extLst>
          </p:cNvPr>
          <p:cNvSpPr txBox="1"/>
          <p:nvPr/>
        </p:nvSpPr>
        <p:spPr>
          <a:xfrm>
            <a:off x="5461175" y="2594504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FFFFFF"/>
                </a:solidFill>
                <a:latin typeface="Space Grotesk"/>
              </a:rPr>
              <a:t>K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D9AD45-5C56-468B-DFDE-44677BFCF17C}"/>
              </a:ext>
            </a:extLst>
          </p:cNvPr>
          <p:cNvSpPr txBox="1"/>
          <p:nvPr/>
        </p:nvSpPr>
        <p:spPr>
          <a:xfrm>
            <a:off x="5027168" y="2594504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FFFFFF"/>
                </a:solidFill>
                <a:latin typeface="Space Grotesk"/>
              </a:rPr>
              <a:t>N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14C99C-8247-CB5F-72BD-F061FC3B3687}"/>
              </a:ext>
            </a:extLst>
          </p:cNvPr>
          <p:cNvSpPr txBox="1"/>
          <p:nvPr/>
        </p:nvSpPr>
        <p:spPr>
          <a:xfrm>
            <a:off x="6080035" y="2621815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Space Grotesk"/>
              </a:rPr>
              <a:t>Y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4C30A-C950-BD8E-829E-7DB615DE8C21}"/>
              </a:ext>
            </a:extLst>
          </p:cNvPr>
          <p:cNvSpPr txBox="1"/>
          <p:nvPr/>
        </p:nvSpPr>
        <p:spPr>
          <a:xfrm>
            <a:off x="6483570" y="2621814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Space Grotesk"/>
              </a:rPr>
              <a:t>O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8B068A-5940-24FF-3C39-DCD97BFB0B25}"/>
              </a:ext>
            </a:extLst>
          </p:cNvPr>
          <p:cNvSpPr txBox="1"/>
          <p:nvPr/>
        </p:nvSpPr>
        <p:spPr>
          <a:xfrm>
            <a:off x="7030283" y="2649125"/>
            <a:ext cx="15995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Space Grotesk"/>
              </a:rPr>
              <a:t>U!</a:t>
            </a:r>
            <a:endParaRPr sz="5400" b="1" i="0" u="none" dirty="0">
              <a:solidFill>
                <a:srgbClr val="FFFFFF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970336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1391</Words>
  <Application>Microsoft Office PowerPoint</Application>
  <PresentationFormat>Widescreen</PresentationFormat>
  <Paragraphs>355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JetBrains Mono</vt:lpstr>
      <vt:lpstr>Space Grotesk</vt:lpstr>
      <vt:lpstr>Calibri</vt:lpstr>
      <vt:lpstr>Plus Jakarta Sans</vt:lpstr>
      <vt:lpstr>Arial</vt:lpstr>
      <vt:lpstr>Aptos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MENGHONG.KHON</dc:creator>
  <cp:keywords/>
  <dc:description>generated using python-pptx</dc:description>
  <cp:lastModifiedBy>MENGHONG.KHON</cp:lastModifiedBy>
  <cp:revision>5</cp:revision>
  <dcterms:created xsi:type="dcterms:W3CDTF">2013-01-27T09:14:16Z</dcterms:created>
  <dcterms:modified xsi:type="dcterms:W3CDTF">2026-09-28T10:48:16Z</dcterms:modified>
  <cp:category/>
</cp:coreProperties>
</file>